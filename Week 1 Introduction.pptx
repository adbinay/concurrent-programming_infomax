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33"/>
  </p:notesMasterIdLst>
  <p:handoutMasterIdLst>
    <p:handoutMasterId r:id="rId34"/>
  </p:handoutMasterIdLst>
  <p:sldIdLst>
    <p:sldId id="343" r:id="rId5"/>
    <p:sldId id="258" r:id="rId6"/>
    <p:sldId id="259" r:id="rId7"/>
    <p:sldId id="404" r:id="rId8"/>
    <p:sldId id="260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263" r:id="rId19"/>
    <p:sldId id="414" r:id="rId20"/>
    <p:sldId id="415" r:id="rId21"/>
    <p:sldId id="416" r:id="rId22"/>
    <p:sldId id="349" r:id="rId23"/>
    <p:sldId id="417" r:id="rId24"/>
    <p:sldId id="340" r:id="rId25"/>
    <p:sldId id="347" r:id="rId26"/>
    <p:sldId id="403" r:id="rId27"/>
    <p:sldId id="418" r:id="rId28"/>
    <p:sldId id="419" r:id="rId29"/>
    <p:sldId id="420" r:id="rId30"/>
    <p:sldId id="348" r:id="rId31"/>
    <p:sldId id="421" r:id="rId32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343"/>
            <p14:sldId id="258"/>
            <p14:sldId id="259"/>
            <p14:sldId id="404"/>
            <p14:sldId id="260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263"/>
            <p14:sldId id="414"/>
            <p14:sldId id="415"/>
            <p14:sldId id="416"/>
            <p14:sldId id="349"/>
            <p14:sldId id="417"/>
            <p14:sldId id="340"/>
            <p14:sldId id="347"/>
            <p14:sldId id="403"/>
            <p14:sldId id="418"/>
            <p14:sldId id="419"/>
            <p14:sldId id="420"/>
            <p14:sldId id="348"/>
            <p14:sldId id="4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79DD3-2EBB-4E25-90D9-42ED6D3464F1}" v="2" dt="2023-11-06T03:45:39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70655" autoAdjust="0"/>
  </p:normalViewPr>
  <p:slideViewPr>
    <p:cSldViewPr snapToGrid="0">
      <p:cViewPr varScale="1">
        <p:scale>
          <a:sx n="44" d="100"/>
          <a:sy n="44" d="100"/>
        </p:scale>
        <p:origin x="1512" y="48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92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lan Arabee Abdul Salam" userId="5bc04053-34d1-46af-a9d4-ff754460ad4b" providerId="ADAL" clId="{CD11030C-D4AC-4F37-A72F-13B7307DA009}"/>
    <pc:docChg chg="addSld delSld modSld modSection">
      <pc:chgData name="Zailan Arabee Abdul Salam" userId="5bc04053-34d1-46af-a9d4-ff754460ad4b" providerId="ADAL" clId="{CD11030C-D4AC-4F37-A72F-13B7307DA009}" dt="2023-10-30T03:22:14.857" v="3" actId="47"/>
      <pc:docMkLst>
        <pc:docMk/>
      </pc:docMkLst>
      <pc:sldChg chg="add del">
        <pc:chgData name="Zailan Arabee Abdul Salam" userId="5bc04053-34d1-46af-a9d4-ff754460ad4b" providerId="ADAL" clId="{CD11030C-D4AC-4F37-A72F-13B7307DA009}" dt="2023-10-30T03:21:44.711" v="2" actId="47"/>
        <pc:sldMkLst>
          <pc:docMk/>
          <pc:sldMk cId="0" sldId="26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3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222172671" sldId="305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147692581" sldId="306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453307536" sldId="307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3726883340" sldId="308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877144264" sldId="309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002936326" sldId="31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CD11030C-D4AC-4F37-A72F-13B7307DA009}" dt="2023-10-30T03:21:43.693" v="1" actId="47"/>
        <pc:sldMkLst>
          <pc:docMk/>
          <pc:sldMk cId="3591373730" sldId="31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81059157" sldId="3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732822587" sldId="3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800784675" sldId="3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509633848" sldId="3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728493372" sldId="3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43501658" sldId="3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253409991" sldId="3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6"/>
        </pc:sldMkLst>
      </pc:sldChg>
    </pc:docChg>
  </pc:docChgLst>
  <pc:docChgLst>
    <pc:chgData name="Zailan Arabee Abdul Salam" userId="5bc04053-34d1-46af-a9d4-ff754460ad4b" providerId="ADAL" clId="{94B79DD3-2EBB-4E25-90D9-42ED6D3464F1}"/>
    <pc:docChg chg="addSld delSld modSld modSection">
      <pc:chgData name="Zailan Arabee Abdul Salam" userId="5bc04053-34d1-46af-a9d4-ff754460ad4b" providerId="ADAL" clId="{94B79DD3-2EBB-4E25-90D9-42ED6D3464F1}" dt="2023-11-06T03:45:59.753" v="3" actId="47"/>
      <pc:docMkLst>
        <pc:docMk/>
      </pc:docMkLst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258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258"/>
            <ac:spMk id="18434" creationId="{69CD1685-9BE3-498F-9F73-08E2AD16706F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259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259"/>
            <ac:spMk id="19459" creationId="{D24A5FC1-A3D5-4C0F-8330-4FD1267F1AC4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260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260"/>
            <ac:spMk id="20484" creationId="{F7197436-9363-42E4-A82D-5BFDF9BE90F1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263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263"/>
            <ac:spMk id="35843" creationId="{BD3B49D6-A517-4FC6-A19C-958099D4685C}"/>
          </ac:spMkLst>
        </pc:spChg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6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6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66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67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68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6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6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7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8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7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6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7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8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8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6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7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8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29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0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0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0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0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1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1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18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1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1"/>
        </pc:sldMkLst>
      </pc:sldChg>
      <pc:sldChg chg="del">
        <pc:chgData name="Zailan Arabee Abdul Salam" userId="5bc04053-34d1-46af-a9d4-ff754460ad4b" providerId="ADAL" clId="{94B79DD3-2EBB-4E25-90D9-42ED6D3464F1}" dt="2023-11-06T03:45:31.663" v="1" actId="47"/>
        <pc:sldMkLst>
          <pc:docMk/>
          <pc:sldMk cId="66905897" sldId="32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6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2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3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3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3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3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63747284" sldId="334"/>
        </pc:sldMkLst>
      </pc:sldChg>
      <pc:sldChg chg="add setBg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340"/>
        </pc:sldMkLst>
      </pc:sldChg>
      <pc:sldChg chg="modSp add">
        <pc:chgData name="Zailan Arabee Abdul Salam" userId="5bc04053-34d1-46af-a9d4-ff754460ad4b" providerId="ADAL" clId="{94B79DD3-2EBB-4E25-90D9-42ED6D3464F1}" dt="2023-11-06T03:45:39.250" v="2" actId="207"/>
        <pc:sldMkLst>
          <pc:docMk/>
          <pc:sldMk cId="0" sldId="343"/>
        </pc:sldMkLst>
        <pc:spChg chg="mod">
          <ac:chgData name="Zailan Arabee Abdul Salam" userId="5bc04053-34d1-46af-a9d4-ff754460ad4b" providerId="ADAL" clId="{94B79DD3-2EBB-4E25-90D9-42ED6D3464F1}" dt="2023-11-06T03:45:39.250" v="2" actId="207"/>
          <ac:spMkLst>
            <pc:docMk/>
            <pc:sldMk cId="0" sldId="343"/>
            <ac:spMk id="6" creationId="{80F3CF77-226F-4551-A3B5-70BB30D2714E}"/>
          </ac:spMkLst>
        </pc:spChg>
      </pc:sldChg>
      <pc:sldChg chg="add setBg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347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348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2497901688" sldId="34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2581059157" sldId="38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1732822587" sldId="38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1800784675" sldId="386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509633848" sldId="387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88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728493372" sldId="389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2543501658" sldId="390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4253409991" sldId="391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92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93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94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95"/>
        </pc:sldMkLst>
      </pc:sldChg>
      <pc:sldChg chg="del">
        <pc:chgData name="Zailan Arabee Abdul Salam" userId="5bc04053-34d1-46af-a9d4-ff754460ad4b" providerId="ADAL" clId="{94B79DD3-2EBB-4E25-90D9-42ED6D3464F1}" dt="2023-11-06T03:45:59.753" v="3" actId="47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760570721" sldId="403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3692603590" sldId="404"/>
        </pc:sldMkLst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05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05"/>
            <ac:spMk id="21506" creationId="{F43D1EF5-A233-4E13-9296-E46420298061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06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06"/>
            <ac:spMk id="24579" creationId="{DD892CB4-BAC4-4ABC-AF97-B224840574F8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07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07"/>
            <ac:spMk id="25604" creationId="{7BAC0635-BC4F-4A56-9F3D-A98BE0E4CD71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08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08"/>
            <ac:spMk id="26628" creationId="{C0754F7F-C393-4CC9-929D-DE56830E7DCA}"/>
          </ac:spMkLst>
        </pc:spChg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09"/>
        </pc:sldMkLst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0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10"/>
            <ac:spMk id="29698" creationId="{63E29DD2-86D3-4835-BBE6-36185385583A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1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11"/>
            <ac:spMk id="30724" creationId="{6C718CE4-8F62-4297-A598-458089D52231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2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12"/>
            <ac:spMk id="31748" creationId="{D34835C1-B564-4EAC-985E-B07C8A394D40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3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13"/>
            <ac:spMk id="32772" creationId="{EE46691B-431E-4529-ABF6-02403546C618}"/>
          </ac:spMkLst>
        </pc:spChg>
      </pc:sldChg>
      <pc:sldChg chg="modSp 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4"/>
        </pc:sldMkLst>
        <pc:spChg chg="mod">
          <ac:chgData name="Zailan Arabee Abdul Salam" userId="5bc04053-34d1-46af-a9d4-ff754460ad4b" providerId="ADAL" clId="{94B79DD3-2EBB-4E25-90D9-42ED6D3464F1}" dt="2023-11-06T03:45:26.158" v="0"/>
          <ac:spMkLst>
            <pc:docMk/>
            <pc:sldMk cId="0" sldId="414"/>
            <ac:spMk id="37890" creationId="{003A84D0-5804-43C8-9914-8205DF831ECD}"/>
          </ac:spMkLst>
        </pc:spChg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5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6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7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18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1571325431" sldId="419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1159498331" sldId="420"/>
        </pc:sldMkLst>
      </pc:sldChg>
      <pc:sldChg chg="add">
        <pc:chgData name="Zailan Arabee Abdul Salam" userId="5bc04053-34d1-46af-a9d4-ff754460ad4b" providerId="ADAL" clId="{94B79DD3-2EBB-4E25-90D9-42ED6D3464F1}" dt="2023-11-06T03:45:26.158" v="0"/>
        <pc:sldMkLst>
          <pc:docMk/>
          <pc:sldMk cId="0" sldId="42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21DBF-E95D-49A8-A01B-C9C071E51D8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DB4F04A-00AF-4DC4-BEA2-36880F6AE00C}">
      <dgm:prSet/>
      <dgm:spPr/>
      <dgm:t>
        <a:bodyPr/>
        <a:lstStyle/>
        <a:p>
          <a:r>
            <a:rPr lang="en-US"/>
            <a:t>Beginning of every class to review &amp; discuss the material/content of the previous week</a:t>
          </a:r>
        </a:p>
      </dgm:t>
    </dgm:pt>
    <dgm:pt modelId="{379A6815-3EDF-4A28-9C0D-177C59F03861}" type="parTrans" cxnId="{FBB621D0-3453-4852-A9F9-36ADBAF96A2A}">
      <dgm:prSet/>
      <dgm:spPr/>
      <dgm:t>
        <a:bodyPr/>
        <a:lstStyle/>
        <a:p>
          <a:endParaRPr lang="en-US"/>
        </a:p>
      </dgm:t>
    </dgm:pt>
    <dgm:pt modelId="{B08793AE-1228-4DBA-B4BA-296D464A131E}" type="sibTrans" cxnId="{FBB621D0-3453-4852-A9F9-36ADBAF96A2A}">
      <dgm:prSet/>
      <dgm:spPr/>
      <dgm:t>
        <a:bodyPr/>
        <a:lstStyle/>
        <a:p>
          <a:endParaRPr lang="en-US"/>
        </a:p>
      </dgm:t>
    </dgm:pt>
    <dgm:pt modelId="{3B48CE12-C9FA-439D-B770-CC204DCAAD05}">
      <dgm:prSet/>
      <dgm:spPr/>
      <dgm:t>
        <a:bodyPr/>
        <a:lstStyle/>
        <a:p>
          <a:r>
            <a:rPr lang="en-US"/>
            <a:t>Seek clarity on assignment requirements</a:t>
          </a:r>
        </a:p>
      </dgm:t>
    </dgm:pt>
    <dgm:pt modelId="{F4F243E6-E8CE-4630-8A3A-F3D3B95EA27A}" type="parTrans" cxnId="{F492D2F9-B1AC-458D-A35C-B37C6B7442F2}">
      <dgm:prSet/>
      <dgm:spPr/>
      <dgm:t>
        <a:bodyPr/>
        <a:lstStyle/>
        <a:p>
          <a:endParaRPr lang="en-US"/>
        </a:p>
      </dgm:t>
    </dgm:pt>
    <dgm:pt modelId="{E1FB1467-D3A3-4257-84E1-17BBC0908100}" type="sibTrans" cxnId="{F492D2F9-B1AC-458D-A35C-B37C6B7442F2}">
      <dgm:prSet/>
      <dgm:spPr/>
      <dgm:t>
        <a:bodyPr/>
        <a:lstStyle/>
        <a:p>
          <a:endParaRPr lang="en-US"/>
        </a:p>
      </dgm:t>
    </dgm:pt>
    <dgm:pt modelId="{07718DEF-9EB7-42C3-9223-CC8EA0D140C8}">
      <dgm:prSet/>
      <dgm:spPr/>
      <dgm:t>
        <a:bodyPr/>
        <a:lstStyle/>
        <a:p>
          <a:r>
            <a:rPr lang="en-US"/>
            <a:t>Refresh Java skills</a:t>
          </a:r>
        </a:p>
      </dgm:t>
    </dgm:pt>
    <dgm:pt modelId="{1D997058-3ADF-4F64-BD03-DB5E53DB6AE2}" type="parTrans" cxnId="{6BD23566-D76A-4109-A37B-C18167ECDE1E}">
      <dgm:prSet/>
      <dgm:spPr/>
      <dgm:t>
        <a:bodyPr/>
        <a:lstStyle/>
        <a:p>
          <a:endParaRPr lang="en-US"/>
        </a:p>
      </dgm:t>
    </dgm:pt>
    <dgm:pt modelId="{407EC560-3BD7-4AB3-9826-F0A3B1003F73}" type="sibTrans" cxnId="{6BD23566-D76A-4109-A37B-C18167ECDE1E}">
      <dgm:prSet/>
      <dgm:spPr/>
      <dgm:t>
        <a:bodyPr/>
        <a:lstStyle/>
        <a:p>
          <a:endParaRPr lang="en-US"/>
        </a:p>
      </dgm:t>
    </dgm:pt>
    <dgm:pt modelId="{BE8F6805-4F7C-4BC0-9F5A-C6C47DC19DEC}">
      <dgm:prSet/>
      <dgm:spPr/>
      <dgm:t>
        <a:bodyPr/>
        <a:lstStyle/>
        <a:p>
          <a:r>
            <a:rPr lang="en-US"/>
            <a:t>Independence in coding and debugging</a:t>
          </a:r>
        </a:p>
      </dgm:t>
    </dgm:pt>
    <dgm:pt modelId="{6FCEA475-8638-4D5C-AC39-1E60B0C50EA1}" type="parTrans" cxnId="{D46EF20B-2D7C-4C7E-A0F8-451BE73268F0}">
      <dgm:prSet/>
      <dgm:spPr/>
      <dgm:t>
        <a:bodyPr/>
        <a:lstStyle/>
        <a:p>
          <a:endParaRPr lang="en-US"/>
        </a:p>
      </dgm:t>
    </dgm:pt>
    <dgm:pt modelId="{E0FDFABC-CCA8-45D4-AC7B-C4625434E10F}" type="sibTrans" cxnId="{D46EF20B-2D7C-4C7E-A0F8-451BE73268F0}">
      <dgm:prSet/>
      <dgm:spPr/>
      <dgm:t>
        <a:bodyPr/>
        <a:lstStyle/>
        <a:p>
          <a:endParaRPr lang="en-US"/>
        </a:p>
      </dgm:t>
    </dgm:pt>
    <dgm:pt modelId="{103F6CC6-92F7-415C-80F8-8B0C76862661}" type="pres">
      <dgm:prSet presAssocID="{9B421DBF-E95D-49A8-A01B-C9C071E51D8A}" presName="root" presStyleCnt="0">
        <dgm:presLayoutVars>
          <dgm:dir/>
          <dgm:resizeHandles val="exact"/>
        </dgm:presLayoutVars>
      </dgm:prSet>
      <dgm:spPr/>
    </dgm:pt>
    <dgm:pt modelId="{000F619D-371E-439F-BF35-FB75EBF9C6E0}" type="pres">
      <dgm:prSet presAssocID="{9DB4F04A-00AF-4DC4-BEA2-36880F6AE00C}" presName="compNode" presStyleCnt="0"/>
      <dgm:spPr/>
    </dgm:pt>
    <dgm:pt modelId="{22AC437B-C35E-4E9D-9BEF-FEC302970F79}" type="pres">
      <dgm:prSet presAssocID="{9DB4F04A-00AF-4DC4-BEA2-36880F6AE00C}" presName="bgRect" presStyleLbl="bgShp" presStyleIdx="0" presStyleCnt="4"/>
      <dgm:spPr/>
    </dgm:pt>
    <dgm:pt modelId="{CB520958-2044-41D1-8A8D-80EF198142E3}" type="pres">
      <dgm:prSet presAssocID="{9DB4F04A-00AF-4DC4-BEA2-36880F6AE0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0E0D6B55-39BE-46B6-86D1-B753C09A4A4F}" type="pres">
      <dgm:prSet presAssocID="{9DB4F04A-00AF-4DC4-BEA2-36880F6AE00C}" presName="spaceRect" presStyleCnt="0"/>
      <dgm:spPr/>
    </dgm:pt>
    <dgm:pt modelId="{95BF3591-FFD9-4808-880E-35D2F3716008}" type="pres">
      <dgm:prSet presAssocID="{9DB4F04A-00AF-4DC4-BEA2-36880F6AE00C}" presName="parTx" presStyleLbl="revTx" presStyleIdx="0" presStyleCnt="4">
        <dgm:presLayoutVars>
          <dgm:chMax val="0"/>
          <dgm:chPref val="0"/>
        </dgm:presLayoutVars>
      </dgm:prSet>
      <dgm:spPr/>
    </dgm:pt>
    <dgm:pt modelId="{F78B4C60-9F38-452C-A941-795AAE9FA0C3}" type="pres">
      <dgm:prSet presAssocID="{B08793AE-1228-4DBA-B4BA-296D464A131E}" presName="sibTrans" presStyleCnt="0"/>
      <dgm:spPr/>
    </dgm:pt>
    <dgm:pt modelId="{9088CE8C-6D35-402D-8F53-C6BEB75D8D11}" type="pres">
      <dgm:prSet presAssocID="{3B48CE12-C9FA-439D-B770-CC204DCAAD05}" presName="compNode" presStyleCnt="0"/>
      <dgm:spPr/>
    </dgm:pt>
    <dgm:pt modelId="{33988626-FC29-44DB-8E7E-CF99F1096900}" type="pres">
      <dgm:prSet presAssocID="{3B48CE12-C9FA-439D-B770-CC204DCAAD05}" presName="bgRect" presStyleLbl="bgShp" presStyleIdx="1" presStyleCnt="4"/>
      <dgm:spPr/>
    </dgm:pt>
    <dgm:pt modelId="{5258C3B2-68FB-4F2C-93FF-F8D89B4FFBF9}" type="pres">
      <dgm:prSet presAssocID="{3B48CE12-C9FA-439D-B770-CC204DCAAD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88E90CDF-39DD-49DD-B9E5-130E299F91B6}" type="pres">
      <dgm:prSet presAssocID="{3B48CE12-C9FA-439D-B770-CC204DCAAD05}" presName="spaceRect" presStyleCnt="0"/>
      <dgm:spPr/>
    </dgm:pt>
    <dgm:pt modelId="{4B36FC87-CC9F-4405-B5D8-36E4BAE8180F}" type="pres">
      <dgm:prSet presAssocID="{3B48CE12-C9FA-439D-B770-CC204DCAAD05}" presName="parTx" presStyleLbl="revTx" presStyleIdx="1" presStyleCnt="4">
        <dgm:presLayoutVars>
          <dgm:chMax val="0"/>
          <dgm:chPref val="0"/>
        </dgm:presLayoutVars>
      </dgm:prSet>
      <dgm:spPr/>
    </dgm:pt>
    <dgm:pt modelId="{B006C946-B6BE-4ECC-8D41-6C5F893F2214}" type="pres">
      <dgm:prSet presAssocID="{E1FB1467-D3A3-4257-84E1-17BBC0908100}" presName="sibTrans" presStyleCnt="0"/>
      <dgm:spPr/>
    </dgm:pt>
    <dgm:pt modelId="{4308CD6F-1495-4B8B-AAF0-354BAB5BC6BB}" type="pres">
      <dgm:prSet presAssocID="{07718DEF-9EB7-42C3-9223-CC8EA0D140C8}" presName="compNode" presStyleCnt="0"/>
      <dgm:spPr/>
    </dgm:pt>
    <dgm:pt modelId="{85999C9F-AC87-4226-8608-52364CC3E6CA}" type="pres">
      <dgm:prSet presAssocID="{07718DEF-9EB7-42C3-9223-CC8EA0D140C8}" presName="bgRect" presStyleLbl="bgShp" presStyleIdx="2" presStyleCnt="4"/>
      <dgm:spPr/>
    </dgm:pt>
    <dgm:pt modelId="{1507D2AF-FFFA-4CC6-A96B-7EC9482A480A}" type="pres">
      <dgm:prSet presAssocID="{07718DEF-9EB7-42C3-9223-CC8EA0D140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EF11E94-CF18-46B5-A617-FF1ABB803256}" type="pres">
      <dgm:prSet presAssocID="{07718DEF-9EB7-42C3-9223-CC8EA0D140C8}" presName="spaceRect" presStyleCnt="0"/>
      <dgm:spPr/>
    </dgm:pt>
    <dgm:pt modelId="{04D65C90-EDEE-4EC5-88E0-16D480B8B7A7}" type="pres">
      <dgm:prSet presAssocID="{07718DEF-9EB7-42C3-9223-CC8EA0D140C8}" presName="parTx" presStyleLbl="revTx" presStyleIdx="2" presStyleCnt="4">
        <dgm:presLayoutVars>
          <dgm:chMax val="0"/>
          <dgm:chPref val="0"/>
        </dgm:presLayoutVars>
      </dgm:prSet>
      <dgm:spPr/>
    </dgm:pt>
    <dgm:pt modelId="{7A0F14A3-B921-4923-966E-5D3D370E675F}" type="pres">
      <dgm:prSet presAssocID="{407EC560-3BD7-4AB3-9826-F0A3B1003F73}" presName="sibTrans" presStyleCnt="0"/>
      <dgm:spPr/>
    </dgm:pt>
    <dgm:pt modelId="{0BA04429-D412-4EBB-834E-A53661C7DE01}" type="pres">
      <dgm:prSet presAssocID="{BE8F6805-4F7C-4BC0-9F5A-C6C47DC19DEC}" presName="compNode" presStyleCnt="0"/>
      <dgm:spPr/>
    </dgm:pt>
    <dgm:pt modelId="{082E73F7-4B8A-4197-87D2-1287BE699CF9}" type="pres">
      <dgm:prSet presAssocID="{BE8F6805-4F7C-4BC0-9F5A-C6C47DC19DEC}" presName="bgRect" presStyleLbl="bgShp" presStyleIdx="3" presStyleCnt="4"/>
      <dgm:spPr/>
    </dgm:pt>
    <dgm:pt modelId="{E600F973-CC22-43E7-B82A-0DCF7A22C949}" type="pres">
      <dgm:prSet presAssocID="{BE8F6805-4F7C-4BC0-9F5A-C6C47DC19DE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FE893F0-7EB6-4249-ABD2-FC5A1E60C95E}" type="pres">
      <dgm:prSet presAssocID="{BE8F6805-4F7C-4BC0-9F5A-C6C47DC19DEC}" presName="spaceRect" presStyleCnt="0"/>
      <dgm:spPr/>
    </dgm:pt>
    <dgm:pt modelId="{CFB600FA-24E6-45E6-A230-C91964F0796C}" type="pres">
      <dgm:prSet presAssocID="{BE8F6805-4F7C-4BC0-9F5A-C6C47DC19DE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46EF20B-2D7C-4C7E-A0F8-451BE73268F0}" srcId="{9B421DBF-E95D-49A8-A01B-C9C071E51D8A}" destId="{BE8F6805-4F7C-4BC0-9F5A-C6C47DC19DEC}" srcOrd="3" destOrd="0" parTransId="{6FCEA475-8638-4D5C-AC39-1E60B0C50EA1}" sibTransId="{E0FDFABC-CCA8-45D4-AC7B-C4625434E10F}"/>
    <dgm:cxn modelId="{1BA4B327-4F65-4F88-B6D3-F1998DCF42C5}" type="presOf" srcId="{07718DEF-9EB7-42C3-9223-CC8EA0D140C8}" destId="{04D65C90-EDEE-4EC5-88E0-16D480B8B7A7}" srcOrd="0" destOrd="0" presId="urn:microsoft.com/office/officeart/2018/2/layout/IconVerticalSolidList"/>
    <dgm:cxn modelId="{6BD23566-D76A-4109-A37B-C18167ECDE1E}" srcId="{9B421DBF-E95D-49A8-A01B-C9C071E51D8A}" destId="{07718DEF-9EB7-42C3-9223-CC8EA0D140C8}" srcOrd="2" destOrd="0" parTransId="{1D997058-3ADF-4F64-BD03-DB5E53DB6AE2}" sibTransId="{407EC560-3BD7-4AB3-9826-F0A3B1003F73}"/>
    <dgm:cxn modelId="{73574E74-0D50-4B42-BBE9-238299EF56BB}" type="presOf" srcId="{3B48CE12-C9FA-439D-B770-CC204DCAAD05}" destId="{4B36FC87-CC9F-4405-B5D8-36E4BAE8180F}" srcOrd="0" destOrd="0" presId="urn:microsoft.com/office/officeart/2018/2/layout/IconVerticalSolidList"/>
    <dgm:cxn modelId="{B78897C0-F006-4CF7-9B58-BD0FC5742C5B}" type="presOf" srcId="{9DB4F04A-00AF-4DC4-BEA2-36880F6AE00C}" destId="{95BF3591-FFD9-4808-880E-35D2F3716008}" srcOrd="0" destOrd="0" presId="urn:microsoft.com/office/officeart/2018/2/layout/IconVerticalSolidList"/>
    <dgm:cxn modelId="{8819BAC0-42C8-4627-8A14-D71B91044C4F}" type="presOf" srcId="{BE8F6805-4F7C-4BC0-9F5A-C6C47DC19DEC}" destId="{CFB600FA-24E6-45E6-A230-C91964F0796C}" srcOrd="0" destOrd="0" presId="urn:microsoft.com/office/officeart/2018/2/layout/IconVerticalSolidList"/>
    <dgm:cxn modelId="{3D6313C3-5060-454E-BE41-5BC204F29422}" type="presOf" srcId="{9B421DBF-E95D-49A8-A01B-C9C071E51D8A}" destId="{103F6CC6-92F7-415C-80F8-8B0C76862661}" srcOrd="0" destOrd="0" presId="urn:microsoft.com/office/officeart/2018/2/layout/IconVerticalSolidList"/>
    <dgm:cxn modelId="{FBB621D0-3453-4852-A9F9-36ADBAF96A2A}" srcId="{9B421DBF-E95D-49A8-A01B-C9C071E51D8A}" destId="{9DB4F04A-00AF-4DC4-BEA2-36880F6AE00C}" srcOrd="0" destOrd="0" parTransId="{379A6815-3EDF-4A28-9C0D-177C59F03861}" sibTransId="{B08793AE-1228-4DBA-B4BA-296D464A131E}"/>
    <dgm:cxn modelId="{F492D2F9-B1AC-458D-A35C-B37C6B7442F2}" srcId="{9B421DBF-E95D-49A8-A01B-C9C071E51D8A}" destId="{3B48CE12-C9FA-439D-B770-CC204DCAAD05}" srcOrd="1" destOrd="0" parTransId="{F4F243E6-E8CE-4630-8A3A-F3D3B95EA27A}" sibTransId="{E1FB1467-D3A3-4257-84E1-17BBC0908100}"/>
    <dgm:cxn modelId="{1C412B88-B4A6-42B4-8CDC-B0EC2CDAB3AB}" type="presParOf" srcId="{103F6CC6-92F7-415C-80F8-8B0C76862661}" destId="{000F619D-371E-439F-BF35-FB75EBF9C6E0}" srcOrd="0" destOrd="0" presId="urn:microsoft.com/office/officeart/2018/2/layout/IconVerticalSolidList"/>
    <dgm:cxn modelId="{C6B3C716-91E4-4043-91B3-EA2E00454FEC}" type="presParOf" srcId="{000F619D-371E-439F-BF35-FB75EBF9C6E0}" destId="{22AC437B-C35E-4E9D-9BEF-FEC302970F79}" srcOrd="0" destOrd="0" presId="urn:microsoft.com/office/officeart/2018/2/layout/IconVerticalSolidList"/>
    <dgm:cxn modelId="{EB7EDCE0-92D8-4464-B878-552928137E97}" type="presParOf" srcId="{000F619D-371E-439F-BF35-FB75EBF9C6E0}" destId="{CB520958-2044-41D1-8A8D-80EF198142E3}" srcOrd="1" destOrd="0" presId="urn:microsoft.com/office/officeart/2018/2/layout/IconVerticalSolidList"/>
    <dgm:cxn modelId="{AC61A7BA-4B66-4682-9E03-C32B66DD5294}" type="presParOf" srcId="{000F619D-371E-439F-BF35-FB75EBF9C6E0}" destId="{0E0D6B55-39BE-46B6-86D1-B753C09A4A4F}" srcOrd="2" destOrd="0" presId="urn:microsoft.com/office/officeart/2018/2/layout/IconVerticalSolidList"/>
    <dgm:cxn modelId="{F7D45ACF-A309-4E8E-BDB8-CCAA76E11B86}" type="presParOf" srcId="{000F619D-371E-439F-BF35-FB75EBF9C6E0}" destId="{95BF3591-FFD9-4808-880E-35D2F3716008}" srcOrd="3" destOrd="0" presId="urn:microsoft.com/office/officeart/2018/2/layout/IconVerticalSolidList"/>
    <dgm:cxn modelId="{35C992C6-D75D-4339-8691-5430107993F8}" type="presParOf" srcId="{103F6CC6-92F7-415C-80F8-8B0C76862661}" destId="{F78B4C60-9F38-452C-A941-795AAE9FA0C3}" srcOrd="1" destOrd="0" presId="urn:microsoft.com/office/officeart/2018/2/layout/IconVerticalSolidList"/>
    <dgm:cxn modelId="{3A11414F-FFD3-4D7B-BD69-B5979DE8259B}" type="presParOf" srcId="{103F6CC6-92F7-415C-80F8-8B0C76862661}" destId="{9088CE8C-6D35-402D-8F53-C6BEB75D8D11}" srcOrd="2" destOrd="0" presId="urn:microsoft.com/office/officeart/2018/2/layout/IconVerticalSolidList"/>
    <dgm:cxn modelId="{B8F5A020-A962-4CF8-990C-9A076EF7630D}" type="presParOf" srcId="{9088CE8C-6D35-402D-8F53-C6BEB75D8D11}" destId="{33988626-FC29-44DB-8E7E-CF99F1096900}" srcOrd="0" destOrd="0" presId="urn:microsoft.com/office/officeart/2018/2/layout/IconVerticalSolidList"/>
    <dgm:cxn modelId="{301B1AB9-712E-4C19-9893-7196D11F3CA9}" type="presParOf" srcId="{9088CE8C-6D35-402D-8F53-C6BEB75D8D11}" destId="{5258C3B2-68FB-4F2C-93FF-F8D89B4FFBF9}" srcOrd="1" destOrd="0" presId="urn:microsoft.com/office/officeart/2018/2/layout/IconVerticalSolidList"/>
    <dgm:cxn modelId="{E2489633-5767-4877-BC66-40EDF44CBDDF}" type="presParOf" srcId="{9088CE8C-6D35-402D-8F53-C6BEB75D8D11}" destId="{88E90CDF-39DD-49DD-B9E5-130E299F91B6}" srcOrd="2" destOrd="0" presId="urn:microsoft.com/office/officeart/2018/2/layout/IconVerticalSolidList"/>
    <dgm:cxn modelId="{B1202FF5-096E-4BA5-BF27-17619DA8C187}" type="presParOf" srcId="{9088CE8C-6D35-402D-8F53-C6BEB75D8D11}" destId="{4B36FC87-CC9F-4405-B5D8-36E4BAE8180F}" srcOrd="3" destOrd="0" presId="urn:microsoft.com/office/officeart/2018/2/layout/IconVerticalSolidList"/>
    <dgm:cxn modelId="{BE76BB75-37CE-485A-8F4E-7D3CD7CFF301}" type="presParOf" srcId="{103F6CC6-92F7-415C-80F8-8B0C76862661}" destId="{B006C946-B6BE-4ECC-8D41-6C5F893F2214}" srcOrd="3" destOrd="0" presId="urn:microsoft.com/office/officeart/2018/2/layout/IconVerticalSolidList"/>
    <dgm:cxn modelId="{69F4F076-869C-41BE-BF6A-AC3EBB906513}" type="presParOf" srcId="{103F6CC6-92F7-415C-80F8-8B0C76862661}" destId="{4308CD6F-1495-4B8B-AAF0-354BAB5BC6BB}" srcOrd="4" destOrd="0" presId="urn:microsoft.com/office/officeart/2018/2/layout/IconVerticalSolidList"/>
    <dgm:cxn modelId="{78D56C89-2FF7-408F-BAA9-13565BD5BC9C}" type="presParOf" srcId="{4308CD6F-1495-4B8B-AAF0-354BAB5BC6BB}" destId="{85999C9F-AC87-4226-8608-52364CC3E6CA}" srcOrd="0" destOrd="0" presId="urn:microsoft.com/office/officeart/2018/2/layout/IconVerticalSolidList"/>
    <dgm:cxn modelId="{6DFE9C26-AE67-48BD-AE56-23CC5D23DDBA}" type="presParOf" srcId="{4308CD6F-1495-4B8B-AAF0-354BAB5BC6BB}" destId="{1507D2AF-FFFA-4CC6-A96B-7EC9482A480A}" srcOrd="1" destOrd="0" presId="urn:microsoft.com/office/officeart/2018/2/layout/IconVerticalSolidList"/>
    <dgm:cxn modelId="{6D1A1D19-C116-4A20-9381-32AD874BB487}" type="presParOf" srcId="{4308CD6F-1495-4B8B-AAF0-354BAB5BC6BB}" destId="{2EF11E94-CF18-46B5-A617-FF1ABB803256}" srcOrd="2" destOrd="0" presId="urn:microsoft.com/office/officeart/2018/2/layout/IconVerticalSolidList"/>
    <dgm:cxn modelId="{7A9119B0-727D-48C7-A82F-B2ADED3E5EC0}" type="presParOf" srcId="{4308CD6F-1495-4B8B-AAF0-354BAB5BC6BB}" destId="{04D65C90-EDEE-4EC5-88E0-16D480B8B7A7}" srcOrd="3" destOrd="0" presId="urn:microsoft.com/office/officeart/2018/2/layout/IconVerticalSolidList"/>
    <dgm:cxn modelId="{FD3DBC97-CF98-4B8F-97FF-430D13938C08}" type="presParOf" srcId="{103F6CC6-92F7-415C-80F8-8B0C76862661}" destId="{7A0F14A3-B921-4923-966E-5D3D370E675F}" srcOrd="5" destOrd="0" presId="urn:microsoft.com/office/officeart/2018/2/layout/IconVerticalSolidList"/>
    <dgm:cxn modelId="{E85A6F99-2CA9-4E8F-A01A-637D8F397F89}" type="presParOf" srcId="{103F6CC6-92F7-415C-80F8-8B0C76862661}" destId="{0BA04429-D412-4EBB-834E-A53661C7DE01}" srcOrd="6" destOrd="0" presId="urn:microsoft.com/office/officeart/2018/2/layout/IconVerticalSolidList"/>
    <dgm:cxn modelId="{F4B6EFCF-319B-4043-A698-DF36A93DE758}" type="presParOf" srcId="{0BA04429-D412-4EBB-834E-A53661C7DE01}" destId="{082E73F7-4B8A-4197-87D2-1287BE699CF9}" srcOrd="0" destOrd="0" presId="urn:microsoft.com/office/officeart/2018/2/layout/IconVerticalSolidList"/>
    <dgm:cxn modelId="{39AF2CF7-68FC-4F09-9934-2D707A5D57DA}" type="presParOf" srcId="{0BA04429-D412-4EBB-834E-A53661C7DE01}" destId="{E600F973-CC22-43E7-B82A-0DCF7A22C949}" srcOrd="1" destOrd="0" presId="urn:microsoft.com/office/officeart/2018/2/layout/IconVerticalSolidList"/>
    <dgm:cxn modelId="{9DB96BFB-68D1-49F5-85D5-50E3B818FF7E}" type="presParOf" srcId="{0BA04429-D412-4EBB-834E-A53661C7DE01}" destId="{1FE893F0-7EB6-4249-ABD2-FC5A1E60C95E}" srcOrd="2" destOrd="0" presId="urn:microsoft.com/office/officeart/2018/2/layout/IconVerticalSolidList"/>
    <dgm:cxn modelId="{F1E608CA-D88B-4741-8477-BC2182F6063B}" type="presParOf" srcId="{0BA04429-D412-4EBB-834E-A53661C7DE01}" destId="{CFB600FA-24E6-45E6-A230-C91964F079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C437B-C35E-4E9D-9BEF-FEC302970F79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20958-2044-41D1-8A8D-80EF198142E3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F3591-FFD9-4808-880E-35D2F3716008}">
      <dsp:nvSpPr>
        <dsp:cNvPr id="0" name=""/>
        <dsp:cNvSpPr/>
      </dsp:nvSpPr>
      <dsp:spPr>
        <a:xfrm>
          <a:off x="1099609" y="1878"/>
          <a:ext cx="7129990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Beginning of every class to review &amp; discuss the material/content of the previous week</a:t>
          </a:r>
        </a:p>
      </dsp:txBody>
      <dsp:txXfrm>
        <a:off x="1099609" y="1878"/>
        <a:ext cx="7129990" cy="952043"/>
      </dsp:txXfrm>
    </dsp:sp>
    <dsp:sp modelId="{33988626-FC29-44DB-8E7E-CF99F1096900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58C3B2-68FB-4F2C-93FF-F8D89B4FFBF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6FC87-CC9F-4405-B5D8-36E4BAE8180F}">
      <dsp:nvSpPr>
        <dsp:cNvPr id="0" name=""/>
        <dsp:cNvSpPr/>
      </dsp:nvSpPr>
      <dsp:spPr>
        <a:xfrm>
          <a:off x="1099609" y="1191932"/>
          <a:ext cx="7129990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Seek clarity on assignment requirements</a:t>
          </a:r>
        </a:p>
      </dsp:txBody>
      <dsp:txXfrm>
        <a:off x="1099609" y="1191932"/>
        <a:ext cx="7129990" cy="952043"/>
      </dsp:txXfrm>
    </dsp:sp>
    <dsp:sp modelId="{85999C9F-AC87-4226-8608-52364CC3E6CA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7D2AF-FFFA-4CC6-A96B-7EC9482A480A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65C90-EDEE-4EC5-88E0-16D480B8B7A7}">
      <dsp:nvSpPr>
        <dsp:cNvPr id="0" name=""/>
        <dsp:cNvSpPr/>
      </dsp:nvSpPr>
      <dsp:spPr>
        <a:xfrm>
          <a:off x="1099609" y="2381986"/>
          <a:ext cx="7129990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Refresh Java skills</a:t>
          </a:r>
        </a:p>
      </dsp:txBody>
      <dsp:txXfrm>
        <a:off x="1099609" y="2381986"/>
        <a:ext cx="7129990" cy="952043"/>
      </dsp:txXfrm>
    </dsp:sp>
    <dsp:sp modelId="{082E73F7-4B8A-4197-87D2-1287BE699CF9}">
      <dsp:nvSpPr>
        <dsp:cNvPr id="0" name=""/>
        <dsp:cNvSpPr/>
      </dsp:nvSpPr>
      <dsp:spPr>
        <a:xfrm>
          <a:off x="0" y="3572040"/>
          <a:ext cx="8229600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00F973-CC22-43E7-B82A-0DCF7A22C949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600FA-24E6-45E6-A230-C91964F0796C}">
      <dsp:nvSpPr>
        <dsp:cNvPr id="0" name=""/>
        <dsp:cNvSpPr/>
      </dsp:nvSpPr>
      <dsp:spPr>
        <a:xfrm>
          <a:off x="1099609" y="3572040"/>
          <a:ext cx="7129990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Independence in coding and debugging</a:t>
          </a:r>
        </a:p>
      </dsp:txBody>
      <dsp:txXfrm>
        <a:off x="1099609" y="3572040"/>
        <a:ext cx="7129990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java/java_quick_guide.htm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#java8-windows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kb/docs/java/javase-jdk8.html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D3DD8BF-A384-426B-84FD-D15984BB20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5526C7C-4BC8-4B7C-8D86-530F6E5BC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https://www.tutorialspoint.com/java/java_quick_guide.htm</a:t>
            </a:r>
            <a:r>
              <a:rPr lang="en-US" dirty="0"/>
              <a:t>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70982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21ED765-33B3-4AE1-B379-52535EDF57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444899E-F018-449C-BAF3-55EB83562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8DDF7F9-6B5F-42AE-A51B-E026C78E07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A146C5B-0AE9-4FEA-ABE1-30FB2DB44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1ED02E1-8D29-4784-AA8A-84E567B79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4EE84F5-FF07-4986-BC7C-D57885336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1ED02E1-8D29-4784-AA8A-84E567B79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4EE84F5-FF07-4986-BC7C-D57885336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0723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7CEB05D-B395-4633-B685-6B2C6022BA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053F69E-2A59-430B-80E5-C5304F8DD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https://www.oracle.com/java/technologies/downloads/#java8-windows</a:t>
            </a:r>
            <a:r>
              <a:rPr lang="en-US" dirty="0"/>
              <a:t>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17742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https://netbeans.apache.org/kb/docs/java/javase-jdk8.html</a:t>
            </a:r>
            <a:r>
              <a:rPr lang="en-US" dirty="0"/>
              <a:t>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8042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B34C594-8EA7-41D8-BF28-C371F906DF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5AB8BCA-DF5C-4649-93D3-EB41F65CD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47700" y="274638"/>
            <a:ext cx="10974917" cy="5948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12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  <p:sldLayoutId id="2147483759" r:id="rId4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zailan@au.edu.my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java/java_quick_guide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#java8-window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kb/docs/java/javase-jdk8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BFD8A6AD-A04A-4E73-9970-26EA466AA2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&amp; Overview</a:t>
            </a:r>
          </a:p>
          <a:p>
            <a:pPr eaLnBrk="1" hangingPunct="1"/>
            <a:endParaRPr lang="en-US" altLang="en-US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0F3CF77-226F-4551-A3B5-70BB30D27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2241362"/>
            <a:ext cx="675481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/>
            <a:ext uri="{91240B29-F687-4f45-9708-019B960494DF}"/>
          </a:extLst>
        </p:spPr>
        <p:txBody>
          <a:bodyPr anchor="ctr"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800" kern="0" dirty="0">
                <a:solidFill>
                  <a:schemeClr val="bg1"/>
                </a:solidFill>
              </a:rPr>
              <a:t>Concurrent Programming</a:t>
            </a:r>
            <a:br>
              <a:rPr lang="en-US" sz="3800" kern="0" dirty="0">
                <a:solidFill>
                  <a:schemeClr val="bg1"/>
                </a:solidFill>
              </a:rPr>
            </a:br>
            <a:r>
              <a:rPr lang="en-US" sz="1400" kern="0" dirty="0">
                <a:solidFill>
                  <a:schemeClr val="bg1"/>
                </a:solidFill>
              </a:rPr>
              <a:t>CT074-3-2 Version 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69CD1685-9BE3-498F-9F73-08E2AD1670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9C1A02-93A1-4587-A5A2-834549D58743}"/>
              </a:ext>
            </a:extLst>
          </p:cNvPr>
          <p:cNvSpPr txBox="1">
            <a:spLocks/>
          </p:cNvSpPr>
          <p:nvPr/>
        </p:nvSpPr>
        <p:spPr bwMode="auto">
          <a:xfrm>
            <a:off x="2178050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u="sng" kern="0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Lecturer information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1164E5-5861-4FEE-8018-8AD28083EF33}"/>
              </a:ext>
            </a:extLst>
          </p:cNvPr>
          <p:cNvSpPr txBox="1">
            <a:spLocks/>
          </p:cNvSpPr>
          <p:nvPr/>
        </p:nvSpPr>
        <p:spPr bwMode="auto">
          <a:xfrm>
            <a:off x="2163763" y="1757363"/>
            <a:ext cx="7783512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/>
              <a:t>Name:         Shyam Sunder Palle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8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/>
              <a:t>email:          shyam.palle</a:t>
            </a:r>
            <a:r>
              <a:rPr lang="en-US" altLang="en-US" sz="2800" dirty="0">
                <a:hlinkClick r:id="rId2"/>
              </a:rPr>
              <a:t>@apu.edu.my</a:t>
            </a:r>
            <a:endParaRPr lang="en-US" altLang="en-US" sz="2800" dirty="0"/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8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/>
              <a:t>Location:      Block C  SOC Staff Room Level 5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800" dirty="0"/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8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800" dirty="0"/>
              <a:t>Microsoft Teams!</a:t>
            </a:r>
          </a:p>
          <a:p>
            <a:pPr>
              <a:buFontTx/>
              <a:buNone/>
              <a:defRPr/>
            </a:pPr>
            <a:endParaRPr lang="en-US" altLang="en-US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A01A9FD9-5DFD-4BF5-8F04-0EEFF15391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CT038-3-2-Object Oriented Development with Java</a:t>
            </a:r>
          </a:p>
          <a:p>
            <a:r>
              <a:rPr lang="en-US" altLang="en-US" dirty="0"/>
              <a:t>or equivalent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D24A5FC1-A3D5-4C0F-8330-4FD1267F1AC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A15A1EC-7571-400A-9554-2ED5D2D41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9" y="554038"/>
            <a:ext cx="6105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742950" indent="-28575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3200" b="1" u="sng" kern="0">
                <a:solidFill>
                  <a:srgbClr val="003366"/>
                </a:solidFill>
                <a:latin typeface="Century Gothic" panose="020B0502020202020204" pitchFamily="34" charset="0"/>
              </a:rPr>
              <a:t>Pre-requisites for this module </a:t>
            </a:r>
            <a:endParaRPr lang="en-US" altLang="en-US" sz="3200" b="1" u="sng" kern="0" dirty="0">
              <a:solidFill>
                <a:srgbClr val="003366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CBA5-6C7B-4FE7-A091-CDB241CD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CB4B-FB97-4E14-AECE-BDF77008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https://www.tutorialspoint.com/java/java_quick_guide.htm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2603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3B4A0E60-4213-476F-B089-394CD8F0D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19353" y="553751"/>
            <a:ext cx="4054315" cy="584775"/>
          </a:xfrm>
        </p:spPr>
        <p:txBody>
          <a:bodyPr wrap="none">
            <a:spAutoFit/>
          </a:bodyPr>
          <a:lstStyle/>
          <a:p>
            <a:r>
              <a:rPr lang="en-US" altLang="en-US" sz="3200" u="sng">
                <a:solidFill>
                  <a:srgbClr val="003366"/>
                </a:solidFill>
                <a:latin typeface="Century Gothic" panose="020B0502020202020204" pitchFamily="34" charset="0"/>
              </a:rPr>
              <a:t>Aims of this module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1BB7B338-2916-4424-A5B1-83CA529BE6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Concurrent Programming module aims to equip students with knowledge of concurrent and parallel programming , skills to implement concurrent technology, and an understanding of concurrency concepts. The concurrency concepts covered includes types, </a:t>
            </a:r>
            <a:r>
              <a:rPr lang="en-US" altLang="en-US" dirty="0" err="1"/>
              <a:t>synchronisation</a:t>
            </a:r>
            <a:r>
              <a:rPr lang="en-US" altLang="en-US" dirty="0"/>
              <a:t> and thread-safe concurrent programs.</a:t>
            </a:r>
          </a:p>
        </p:txBody>
      </p:sp>
      <p:sp>
        <p:nvSpPr>
          <p:cNvPr id="20484" name="Footer Placeholder 3">
            <a:extLst>
              <a:ext uri="{FF2B5EF4-FFF2-40B4-BE49-F238E27FC236}">
                <a16:creationId xmlns:a16="http://schemas.microsoft.com/office/drawing/2014/main" id="{F7197436-9363-42E4-A82D-5BFDF9BE90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F43D1EF5-A233-4E13-9296-E464202980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83CB8A3A-C668-4391-8DBA-48FA0214D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88" y="1577975"/>
            <a:ext cx="84201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en-US" sz="2800" b="1" dirty="0">
                <a:latin typeface="Century Gothic" panose="020B0502020202020204" pitchFamily="34" charset="0"/>
              </a:rPr>
              <a:t>At the end of this course, YOU should be able to:</a:t>
            </a: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endParaRPr lang="en-US" altLang="en-US" sz="2800" b="1" dirty="0">
              <a:latin typeface="Century Gothic" panose="020B0502020202020204" pitchFamily="34" charset="0"/>
            </a:endParaRPr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 dirty="0"/>
              <a:t>Explain the fundamental concepts of concurrency and parallelism in the design of a concurrent system (C2, PLO1)</a:t>
            </a:r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 dirty="0"/>
              <a:t>Apply the concepts of concurrency and parallelism in the construction of a system using a suitable programming language. (C3, PLO2)</a:t>
            </a:r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 dirty="0"/>
              <a:t>Explain the safety aspects of multi-threaded and parallel systems (A3, PLO6)</a:t>
            </a:r>
            <a:endParaRPr lang="en-US" altLang="en-US" sz="2200" b="1" dirty="0"/>
          </a:p>
        </p:txBody>
      </p:sp>
      <p:sp>
        <p:nvSpPr>
          <p:cNvPr id="21508" name="Text Box 3">
            <a:extLst>
              <a:ext uri="{FF2B5EF4-FFF2-40B4-BE49-F238E27FC236}">
                <a16:creationId xmlns:a16="http://schemas.microsoft.com/office/drawing/2014/main" id="{5EE2CBCE-B341-443B-9FBA-8F661DB67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449264"/>
            <a:ext cx="677703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003366"/>
                </a:solidFill>
                <a:latin typeface="Century Gothic" panose="020B0502020202020204" pitchFamily="34" charset="0"/>
              </a:rPr>
              <a:t>Course Learning outcomes, CLOs</a:t>
            </a:r>
            <a:endParaRPr lang="en-US" altLang="en-US" u="sng">
              <a:solidFill>
                <a:srgbClr val="003366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71568EC9-37CF-42B7-9B79-01C859A16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u="sng"/>
              <a:t>Mapping of CLOs with MOEs Domain</a:t>
            </a:r>
          </a:p>
        </p:txBody>
      </p:sp>
      <p:sp>
        <p:nvSpPr>
          <p:cNvPr id="24579" name="Footer Placeholder 3">
            <a:extLst>
              <a:ext uri="{FF2B5EF4-FFF2-40B4-BE49-F238E27FC236}">
                <a16:creationId xmlns:a16="http://schemas.microsoft.com/office/drawing/2014/main" id="{DD892CB4-BAC4-4ABC-AF97-B224840574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24580" name="TextBox 6">
            <a:extLst>
              <a:ext uri="{FF2B5EF4-FFF2-40B4-BE49-F238E27FC236}">
                <a16:creationId xmlns:a16="http://schemas.microsoft.com/office/drawing/2014/main" id="{4923CC3F-25E6-4A6A-9F32-9D0E19C5D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5" y="5330826"/>
            <a:ext cx="2595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PLO2 – Cognitive Skills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PLO6 – Digital Skills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122" y="1786533"/>
            <a:ext cx="6818572" cy="233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D10427E3-0357-4547-880A-AECCB9C3A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230188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 b="1" u="sng"/>
              <a:t>MQF and MOE Domains</a:t>
            </a:r>
          </a:p>
        </p:txBody>
      </p:sp>
      <p:pic>
        <p:nvPicPr>
          <p:cNvPr id="25603" name="Content Placeholder 10">
            <a:extLst>
              <a:ext uri="{FF2B5EF4-FFF2-40B4-BE49-F238E27FC236}">
                <a16:creationId xmlns:a16="http://schemas.microsoft.com/office/drawing/2014/main" id="{E84EB9BB-7A55-4477-97D2-75350B32E5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1363" y="1539876"/>
            <a:ext cx="8229600" cy="4365625"/>
          </a:xfrm>
        </p:spPr>
      </p:pic>
      <p:sp>
        <p:nvSpPr>
          <p:cNvPr id="25604" name="Footer Placeholder 3">
            <a:extLst>
              <a:ext uri="{FF2B5EF4-FFF2-40B4-BE49-F238E27FC236}">
                <a16:creationId xmlns:a16="http://schemas.microsoft.com/office/drawing/2014/main" id="{7BAC0635-BC4F-4A56-9F3D-A98BE0E4CD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EA310F59-F802-4FCB-A774-8D507F711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/>
              <a:t>Teaching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5086C-5897-430C-B019-451ADC81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kern="1200" dirty="0"/>
              <a:t>Lecture</a:t>
            </a:r>
          </a:p>
          <a:p>
            <a:pPr eaLnBrk="1" hangingPunct="1">
              <a:defRPr/>
            </a:pPr>
            <a:r>
              <a:rPr lang="en-US" sz="2800" kern="1200" dirty="0"/>
              <a:t>Labs</a:t>
            </a:r>
          </a:p>
          <a:p>
            <a:pPr eaLnBrk="1" hangingPunct="1">
              <a:defRPr/>
            </a:pPr>
            <a:r>
              <a:rPr lang="en-US" sz="2800" kern="1200" dirty="0"/>
              <a:t>Case Studies (Individual and Group)</a:t>
            </a:r>
            <a:endParaRPr lang="en-US" sz="2800" kern="1200" dirty="0">
              <a:cs typeface="Arial"/>
            </a:endParaRPr>
          </a:p>
          <a:p>
            <a:pPr eaLnBrk="1" hangingPunct="1">
              <a:defRPr/>
            </a:pPr>
            <a:endParaRPr lang="en-US" sz="2800" kern="1200" dirty="0"/>
          </a:p>
          <a:p>
            <a:pPr marL="0" indent="0" eaLnBrk="1" hangingPunct="1">
              <a:buNone/>
              <a:defRPr/>
            </a:pPr>
            <a:endParaRPr lang="en-US" sz="2400" kern="1200" dirty="0">
              <a:latin typeface="Century Gothic" panose="020B0502020202020204" pitchFamily="34" charset="0"/>
            </a:endParaRPr>
          </a:p>
        </p:txBody>
      </p:sp>
      <p:sp>
        <p:nvSpPr>
          <p:cNvPr id="26628" name="Footer Placeholder 3">
            <a:extLst>
              <a:ext uri="{FF2B5EF4-FFF2-40B4-BE49-F238E27FC236}">
                <a16:creationId xmlns:a16="http://schemas.microsoft.com/office/drawing/2014/main" id="{C0754F7F-C393-4CC9-929D-DE56830E7D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2650BCD1-4B6F-4C44-8FE1-C643CB0F9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4" y="411163"/>
            <a:ext cx="4395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u="sng"/>
              <a:t>Assessment Methods</a:t>
            </a:r>
            <a:endParaRPr lang="en-US" alt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85180" y="1683118"/>
          <a:ext cx="648262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660">
                  <a:extLst>
                    <a:ext uri="{9D8B030D-6E8A-4147-A177-3AD203B41FA5}">
                      <a16:colId xmlns:a16="http://schemas.microsoft.com/office/drawing/2014/main" val="54739075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07545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50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  <a:r>
                        <a:rPr lang="en-US" baseline="0" dirty="0"/>
                        <a:t> Exam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313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Individual Assignment </a:t>
                      </a:r>
                    </a:p>
                    <a:p>
                      <a:r>
                        <a:rPr lang="en-US" dirty="0"/>
                        <a:t>(Report- 1000 Words- Week 8)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1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Individual Assignment </a:t>
                      </a:r>
                    </a:p>
                    <a:p>
                      <a:r>
                        <a:rPr lang="en-US" dirty="0"/>
                        <a:t>(System - 500 words-  Week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58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34874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63E29DD2-86D3-4835-BBE6-3618538558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959068-EC12-46F7-96A2-1AFD8E641B2A}"/>
              </a:ext>
            </a:extLst>
          </p:cNvPr>
          <p:cNvSpPr txBox="1">
            <a:spLocks/>
          </p:cNvSpPr>
          <p:nvPr/>
        </p:nvSpPr>
        <p:spPr bwMode="auto">
          <a:xfrm>
            <a:off x="2009775" y="354013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b="1" u="sng" kern="0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Student Learning Time (SLT)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2C8BCA-86B3-49E3-8A02-80C17F37A9BD}"/>
              </a:ext>
            </a:extLst>
          </p:cNvPr>
          <p:cNvSpPr txBox="1">
            <a:spLocks/>
          </p:cNvSpPr>
          <p:nvPr/>
        </p:nvSpPr>
        <p:spPr bwMode="auto">
          <a:xfrm>
            <a:off x="2009775" y="1581214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2800" b="1" kern="0" dirty="0">
                <a:latin typeface="Century Gothic" panose="020B0502020202020204" pitchFamily="34" charset="0"/>
              </a:rPr>
              <a:t>Course Credit Value: 3</a:t>
            </a:r>
          </a:p>
          <a:p>
            <a:pPr>
              <a:defRPr/>
            </a:pPr>
            <a:r>
              <a:rPr lang="en-US" sz="2800" b="1" kern="0" dirty="0">
                <a:latin typeface="Century Gothic"/>
              </a:rPr>
              <a:t>Total Learning Hours: </a:t>
            </a:r>
            <a:endParaRPr lang="en-US" sz="2800" b="1" kern="0" dirty="0">
              <a:latin typeface="Century Gothic" panose="020B0502020202020204" pitchFamily="34" charset="0"/>
            </a:endParaRPr>
          </a:p>
          <a:p>
            <a:pPr marL="911225" indent="-457200">
              <a:buFont typeface="Wingdings" panose="05000000000000000000" pitchFamily="2" charset="2"/>
              <a:buChar char="Ø"/>
              <a:defRPr/>
            </a:pPr>
            <a:r>
              <a:rPr lang="en-US" sz="2400" kern="0" dirty="0">
                <a:latin typeface="Century Gothic"/>
              </a:rPr>
              <a:t>Lectures : 28 hours per semester</a:t>
            </a:r>
          </a:p>
          <a:p>
            <a:pPr marL="911225" indent="-457200">
              <a:buFont typeface="Wingdings" panose="05000000000000000000" pitchFamily="2" charset="2"/>
              <a:buChar char="Ø"/>
              <a:defRPr/>
            </a:pPr>
            <a:r>
              <a:rPr lang="en-US" sz="2400" kern="0" dirty="0">
                <a:latin typeface="Century Gothic"/>
              </a:rPr>
              <a:t>Tutorial / Case Study : 14</a:t>
            </a:r>
            <a:r>
              <a:rPr lang="en-GB" sz="2400" kern="0" dirty="0">
                <a:latin typeface="Century Gothic"/>
              </a:rPr>
              <a:t> hours per </a:t>
            </a:r>
            <a:r>
              <a:rPr lang="en-US" sz="2400" kern="0" dirty="0">
                <a:latin typeface="Century Gothic"/>
              </a:rPr>
              <a:t>semester</a:t>
            </a:r>
          </a:p>
          <a:p>
            <a:pPr marL="911225" indent="-457200">
              <a:buFont typeface="Wingdings" panose="05000000000000000000" pitchFamily="2" charset="2"/>
              <a:buChar char="Ø"/>
              <a:defRPr/>
            </a:pPr>
            <a:r>
              <a:rPr lang="en-US" sz="2400" kern="0" dirty="0">
                <a:latin typeface="Century Gothic"/>
              </a:rPr>
              <a:t>Independent Learning Time: 54 hours</a:t>
            </a:r>
          </a:p>
          <a:p>
            <a:pPr marL="0" indent="0">
              <a:buNone/>
              <a:defRPr/>
            </a:pPr>
            <a:endParaRPr lang="en-US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96698511-0275-4A77-807A-E47E1B0A7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/>
              <a:t>Methods of Delivery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9A8C-D6B2-4282-A098-54780193B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dirty="0"/>
              <a:t>Hence, </a:t>
            </a:r>
          </a:p>
          <a:p>
            <a:pPr eaLnBrk="1" hangingPunct="1">
              <a:defRPr/>
            </a:pPr>
            <a:r>
              <a:rPr lang="en-US" dirty="0"/>
              <a:t>We are now moving from the traditional topic based teaching to outcome-based education</a:t>
            </a:r>
          </a:p>
        </p:txBody>
      </p:sp>
      <p:sp>
        <p:nvSpPr>
          <p:cNvPr id="30724" name="Footer Placeholder 3">
            <a:extLst>
              <a:ext uri="{FF2B5EF4-FFF2-40B4-BE49-F238E27FC236}">
                <a16:creationId xmlns:a16="http://schemas.microsoft.com/office/drawing/2014/main" id="{6C718CE4-8F62-4297-A598-458089D522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9319A467-8AA3-457B-91C7-5567FFC9C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u="sng"/>
              <a:t>Outcomes Based Education (OBE)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2E43463E-78E9-49B4-811D-3AF52B9B5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1363" y="1519238"/>
            <a:ext cx="8229600" cy="4703762"/>
          </a:xfrm>
        </p:spPr>
        <p:txBody>
          <a:bodyPr/>
          <a:lstStyle/>
          <a:p>
            <a:pPr eaLnBrk="1" hangingPunct="1"/>
            <a:r>
              <a:rPr lang="en-US" altLang="en-US"/>
              <a:t>OBE is education based on producing particular educational outcomes that: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Focus on what students can actually do after they are taught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Expect all learners / students to successfully achieve particular (sometimes minimum) level of knowledge and abilities.</a:t>
            </a:r>
          </a:p>
        </p:txBody>
      </p:sp>
      <p:sp>
        <p:nvSpPr>
          <p:cNvPr id="31748" name="Footer Placeholder 3">
            <a:extLst>
              <a:ext uri="{FF2B5EF4-FFF2-40B4-BE49-F238E27FC236}">
                <a16:creationId xmlns:a16="http://schemas.microsoft.com/office/drawing/2014/main" id="{D34835C1-B564-4EAC-985E-B07C8A394D4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8C1AA04-3CE4-4C15-B923-2A24133F7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So…What is OBE?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80D1FD25-17CB-419B-9981-56B47621E2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r>
              <a:rPr lang="en-US" altLang="en-US"/>
              <a:t>It’s </a:t>
            </a:r>
          </a:p>
          <a:p>
            <a:pPr marL="0" indent="0" algn="ctr" eaLnBrk="1" hangingPunct="1">
              <a:buNone/>
            </a:pPr>
            <a:r>
              <a:rPr lang="en-US" altLang="en-US" u="sng"/>
              <a:t>NOT</a:t>
            </a:r>
          </a:p>
          <a:p>
            <a:pPr marL="0" indent="0" algn="ctr" eaLnBrk="1" hangingPunct="1">
              <a:buNone/>
            </a:pPr>
            <a:r>
              <a:rPr lang="en-US" altLang="en-US"/>
              <a:t>What we want to teach,</a:t>
            </a:r>
          </a:p>
          <a:p>
            <a:pPr marL="0" indent="0" algn="ctr" eaLnBrk="1" hangingPunct="1">
              <a:buNone/>
            </a:pPr>
            <a:endParaRPr lang="en-US" altLang="en-US"/>
          </a:p>
          <a:p>
            <a:pPr marL="0" indent="0" algn="ctr" eaLnBrk="1" hangingPunct="1">
              <a:buNone/>
            </a:pPr>
            <a:r>
              <a:rPr lang="en-US" altLang="en-US"/>
              <a:t>It’s</a:t>
            </a:r>
          </a:p>
          <a:p>
            <a:pPr marL="0" indent="0" algn="ctr" eaLnBrk="1" hangingPunct="1">
              <a:buNone/>
            </a:pPr>
            <a:r>
              <a:rPr lang="en-US" altLang="en-US" u="sng"/>
              <a:t>What You should learn</a:t>
            </a:r>
          </a:p>
        </p:txBody>
      </p:sp>
      <p:sp>
        <p:nvSpPr>
          <p:cNvPr id="32772" name="Footer Placeholder 3">
            <a:extLst>
              <a:ext uri="{FF2B5EF4-FFF2-40B4-BE49-F238E27FC236}">
                <a16:creationId xmlns:a16="http://schemas.microsoft.com/office/drawing/2014/main" id="{EE46691B-431E-4529-ABF6-02403546C6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80A101F0-A591-4801-A740-5669B42CBEF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968625" y="554038"/>
            <a:ext cx="5124450" cy="584200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3200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What is expected of you 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BD3B49D6-A517-4FC6-A19C-958099D4685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DC66F74-8585-4C5C-A672-B8CA655F7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25" y="554038"/>
            <a:ext cx="5124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742950" indent="-28575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3200" b="1" u="sng" kern="0">
                <a:solidFill>
                  <a:srgbClr val="003366"/>
                </a:solidFill>
                <a:latin typeface="Century Gothic" panose="020B0502020202020204" pitchFamily="34" charset="0"/>
              </a:rPr>
              <a:t>What is expected of you </a:t>
            </a:r>
            <a:endParaRPr lang="en-US" altLang="en-US" sz="3200" u="sng" kern="0" dirty="0">
              <a:solidFill>
                <a:srgbClr val="003366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F9D9AC63-490A-43CB-92D6-7D50FC7C3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363663"/>
            <a:ext cx="8229600" cy="4942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b="1" kern="0" dirty="0">
                <a:latin typeface="Century Gothic" panose="020B0502020202020204" pitchFamily="34" charset="0"/>
              </a:rPr>
              <a:t>You should abide to all the rules &amp; regulation of APU</a:t>
            </a:r>
          </a:p>
          <a:p>
            <a:pPr lvl="1" eaLnBrk="1" hangingPunct="1">
              <a:buClr>
                <a:srgbClr val="3366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b="1" kern="0" dirty="0">
                <a:solidFill>
                  <a:srgbClr val="FF0000"/>
                </a:solidFill>
              </a:rPr>
              <a:t>Proper attire</a:t>
            </a:r>
          </a:p>
          <a:p>
            <a:pPr lvl="1" eaLnBrk="1" hangingPunct="1">
              <a:buClr>
                <a:srgbClr val="3366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b="1" kern="0" dirty="0">
                <a:solidFill>
                  <a:srgbClr val="FF0000"/>
                </a:solidFill>
              </a:rPr>
              <a:t>No speaking of dialects</a:t>
            </a:r>
          </a:p>
          <a:p>
            <a:pPr lvl="1" eaLnBrk="1" hangingPunct="1">
              <a:buClr>
                <a:srgbClr val="3366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b="1" kern="0" dirty="0">
                <a:solidFill>
                  <a:srgbClr val="FF0000"/>
                </a:solidFill>
              </a:rPr>
              <a:t>Attendance is compulsory and valid medical certificates or letters from parents /guardians must support any absence from class.</a:t>
            </a:r>
          </a:p>
          <a:p>
            <a:pPr lvl="1" eaLnBrk="1" hangingPunct="1">
              <a:buClr>
                <a:srgbClr val="3366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b="1" kern="0" dirty="0">
                <a:solidFill>
                  <a:srgbClr val="FF0000"/>
                </a:solidFill>
              </a:rPr>
              <a:t>Three lateness will be equal to one absence</a:t>
            </a:r>
          </a:p>
          <a:p>
            <a:pPr lvl="1" eaLnBrk="1" hangingPunct="1">
              <a:buClr>
                <a:srgbClr val="3366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sz="2400" b="1" kern="0" dirty="0">
                <a:solidFill>
                  <a:srgbClr val="FF0000"/>
                </a:solidFill>
              </a:rPr>
              <a:t>Mobile phones</a:t>
            </a:r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endParaRPr lang="en-US" altLang="en-US" sz="2400" b="1" kern="0" dirty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endParaRPr lang="en-US" altLang="en-US" kern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003A84D0-5804-43C8-9914-8205DF831EC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/>
              <a:t>Slide </a:t>
            </a:r>
            <a:fld id="{718A94AA-323F-47C1-9376-53F50A880BE4}" type="slidenum">
              <a:rPr lang="en-GB" smtClean="0"/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r>
              <a:rPr lang="en-GB"/>
              <a:t> of 25 </a:t>
            </a: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9FAEC9B-AF0B-443C-B8A3-A75D01487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438" y="573088"/>
            <a:ext cx="67992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buClr>
                <a:srgbClr val="FF0000"/>
              </a:buClr>
              <a:defRPr/>
            </a:pPr>
            <a:r>
              <a:rPr lang="en-US" altLang="en-US" sz="2800" b="1" dirty="0">
                <a:latin typeface="Century Gothic" panose="020B0502020202020204" pitchFamily="34" charset="0"/>
              </a:rPr>
              <a:t>	</a:t>
            </a:r>
            <a:r>
              <a:rPr lang="en-US" altLang="en-US" sz="3200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Achievement requirements 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§"/>
              <a:defRPr/>
            </a:pPr>
            <a:endParaRPr lang="en-US" altLang="en-US" sz="2800" b="1" dirty="0">
              <a:latin typeface="Century Gothic" panose="020B0502020202020204" pitchFamily="34" charset="0"/>
            </a:endParaRPr>
          </a:p>
        </p:txBody>
      </p:sp>
      <p:pic>
        <p:nvPicPr>
          <p:cNvPr id="37892" name="Picture 5">
            <a:extLst>
              <a:ext uri="{FF2B5EF4-FFF2-40B4-BE49-F238E27FC236}">
                <a16:creationId xmlns:a16="http://schemas.microsoft.com/office/drawing/2014/main" id="{819AC60A-A04A-44F6-AD0E-38B9A684D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313" y="1544639"/>
            <a:ext cx="7097712" cy="417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2">
            <a:extLst>
              <a:ext uri="{FF2B5EF4-FFF2-40B4-BE49-F238E27FC236}">
                <a16:creationId xmlns:a16="http://schemas.microsoft.com/office/drawing/2014/main" id="{37220849-ED3B-407C-A27D-37D1FEE48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138" y="1963738"/>
            <a:ext cx="843280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/>
              <a:t>   This module will give you the opportunity to develop the following skills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/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GB" altLang="en-US" sz="2400" b="1"/>
              <a:t>Understanding a specific body of knowledge and skills. 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GB" altLang="en-US" sz="2400" b="1"/>
              <a:t>Analyse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en-GB" altLang="en-US" sz="2400" b="1"/>
              <a:t>Formulate a practical solution to a problem, making effective use of time and resources available. 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F254DB8E-6634-4D0C-83CF-E30A0975B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3" y="411164"/>
            <a:ext cx="1244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Skills</a:t>
            </a:r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8">
            <a:extLst>
              <a:ext uri="{FF2B5EF4-FFF2-40B4-BE49-F238E27FC236}">
                <a16:creationId xmlns:a16="http://schemas.microsoft.com/office/drawing/2014/main" id="{6A0DA9ED-1D89-407E-94F1-BC110843042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chemeClr val="bg1"/>
                </a:solidFill>
              </a:rPr>
              <a:t>Slide  6 (of  11)</a:t>
            </a:r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D0E6613B-A2DE-4B82-AC09-94D951772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285751"/>
            <a:ext cx="7847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/>
              <a:t>What Support is available for you (I)</a:t>
            </a:r>
            <a:endParaRPr lang="en-US" altLang="en-US" sz="3000"/>
          </a:p>
        </p:txBody>
      </p:sp>
      <p:sp>
        <p:nvSpPr>
          <p:cNvPr id="44036" name="Text Box 3">
            <a:extLst>
              <a:ext uri="{FF2B5EF4-FFF2-40B4-BE49-F238E27FC236}">
                <a16:creationId xmlns:a16="http://schemas.microsoft.com/office/drawing/2014/main" id="{517CD906-AFA8-45E9-B929-5826DA8C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488" y="1038226"/>
            <a:ext cx="7897812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t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GB" altLang="en-US" sz="240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GB" altLang="en-US" sz="2400" dirty="0">
                <a:latin typeface="Arial"/>
                <a:cs typeface="Arial"/>
              </a:rPr>
              <a:t>Lecturer consultation hours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GB" altLang="en-US" sz="2400" dirty="0">
                <a:latin typeface="Arial"/>
                <a:cs typeface="Arial"/>
              </a:rPr>
              <a:t>Microsoft Teams </a:t>
            </a:r>
            <a:endParaRPr lang="en-GB" altLang="en-US" sz="2400" dirty="0">
              <a:cs typeface="Arial"/>
            </a:endParaRPr>
          </a:p>
        </p:txBody>
      </p:sp>
      <p:pic>
        <p:nvPicPr>
          <p:cNvPr id="44037" name="Picture 4" descr="bs00554_">
            <a:extLst>
              <a:ext uri="{FF2B5EF4-FFF2-40B4-BE49-F238E27FC236}">
                <a16:creationId xmlns:a16="http://schemas.microsoft.com/office/drawing/2014/main" id="{35921D7B-52A8-4860-9120-153975D5C86A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6276" y="2266951"/>
            <a:ext cx="1101725" cy="962025"/>
          </a:xfrm>
          <a:noFill/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8">
            <a:extLst>
              <a:ext uri="{FF2B5EF4-FFF2-40B4-BE49-F238E27FC236}">
                <a16:creationId xmlns:a16="http://schemas.microsoft.com/office/drawing/2014/main" id="{6A0DA9ED-1D89-407E-94F1-BC110843042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chemeClr val="bg1"/>
                </a:solidFill>
              </a:rPr>
              <a:t>Slide  6 (of  11)</a:t>
            </a:r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D0E6613B-A2DE-4B82-AC09-94D951772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285751"/>
            <a:ext cx="7847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/>
              <a:t>What Support is available for you (I)</a:t>
            </a:r>
            <a:endParaRPr lang="en-US" altLang="en-US" sz="3000"/>
          </a:p>
        </p:txBody>
      </p:sp>
      <p:sp>
        <p:nvSpPr>
          <p:cNvPr id="44036" name="Text Box 3">
            <a:extLst>
              <a:ext uri="{FF2B5EF4-FFF2-40B4-BE49-F238E27FC236}">
                <a16:creationId xmlns:a16="http://schemas.microsoft.com/office/drawing/2014/main" id="{517CD906-AFA8-45E9-B929-5826DA8C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488" y="1038225"/>
            <a:ext cx="7897812" cy="4524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GB" altLang="en-US" sz="1800" dirty="0"/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 err="1"/>
              <a:t>Trobec</a:t>
            </a:r>
            <a:r>
              <a:rPr lang="en-GB" altLang="en-US" sz="1800" dirty="0"/>
              <a:t>, R. </a:t>
            </a:r>
            <a:r>
              <a:rPr lang="en-GB" altLang="en-US" sz="1800" dirty="0" err="1"/>
              <a:t>Slivnik</a:t>
            </a:r>
            <a:r>
              <a:rPr lang="en-GB" altLang="en-US" sz="1800" dirty="0"/>
              <a:t>, B (2018). Introduction to Parallel Computing: From Algorithms to Programming on State-of-the-Art Platforms. Springer. ISSN: 1863-7310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/>
              <a:t>Goetz, B., </a:t>
            </a:r>
            <a:r>
              <a:rPr lang="en-GB" altLang="en-US" sz="1800" dirty="0" err="1"/>
              <a:t>Peierls</a:t>
            </a:r>
            <a:r>
              <a:rPr lang="en-GB" altLang="en-US" sz="1800" dirty="0"/>
              <a:t>, T. (2016). Java concurrency in practice. Pearson Education India. ISBN: 9332576521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/>
              <a:t>*</a:t>
            </a:r>
            <a:r>
              <a:rPr lang="en-GB" altLang="en-US" sz="1800" dirty="0" err="1"/>
              <a:t>Raynal,M</a:t>
            </a:r>
            <a:r>
              <a:rPr lang="en-GB" altLang="en-US" sz="1800" dirty="0"/>
              <a:t>. (2013). Concurrent Programming: Algorithms, Principles, and Foundations. Springer. ISBN-13: 978-3642320262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/>
              <a:t>*</a:t>
            </a:r>
            <a:r>
              <a:rPr lang="en-GB" altLang="en-US" sz="1800" dirty="0" err="1"/>
              <a:t>Wellings</a:t>
            </a:r>
            <a:r>
              <a:rPr lang="en-GB" altLang="en-US" sz="1800" dirty="0"/>
              <a:t>, A.(2004). Concurrent and Real-Time Programming in JAVA. Wiley. ISBN: 047084437X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/>
              <a:t>*Magee, J. and Kramer, J. (2006) Concurrency: State Models &amp; Java Programs. 2nd Edition. Wiley. ISBN:0470093552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/>
              <a:t>*Ben-</a:t>
            </a:r>
            <a:r>
              <a:rPr lang="en-GB" altLang="en-US" sz="1800" dirty="0" err="1"/>
              <a:t>Ari,M</a:t>
            </a:r>
            <a:r>
              <a:rPr lang="en-GB" altLang="en-US" sz="1800" dirty="0"/>
              <a:t>. (2006). Principles of Concurrent and Distributed Programming. Prentice-Hall. ISBN: 0-321-31283-X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sz="1800" dirty="0"/>
              <a:t>*</a:t>
            </a:r>
            <a:r>
              <a:rPr lang="en-GB" altLang="en-US" sz="1800" dirty="0" err="1"/>
              <a:t>Roosta,S.H</a:t>
            </a:r>
            <a:r>
              <a:rPr lang="en-GB" altLang="en-US" sz="1800" dirty="0"/>
              <a:t>. (2012). Parallel Processing and Parallel Algorithms: Theory and Computation. Springer. ISBN-13: 978-1461270485</a:t>
            </a:r>
          </a:p>
        </p:txBody>
      </p:sp>
      <p:pic>
        <p:nvPicPr>
          <p:cNvPr id="44037" name="Picture 4" descr="bs00554_">
            <a:extLst>
              <a:ext uri="{FF2B5EF4-FFF2-40B4-BE49-F238E27FC236}">
                <a16:creationId xmlns:a16="http://schemas.microsoft.com/office/drawing/2014/main" id="{35921D7B-52A8-4860-9120-153975D5C86A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6276" y="2266951"/>
            <a:ext cx="1101725" cy="962025"/>
          </a:xfrm>
          <a:noFill/>
        </p:spPr>
      </p:pic>
    </p:spTree>
    <p:extLst>
      <p:ext uri="{BB962C8B-B14F-4D97-AF65-F5344CB8AC3E}">
        <p14:creationId xmlns:p14="http://schemas.microsoft.com/office/powerpoint/2010/main" val="249790168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45A085FA-C6B5-4129-8A4F-4C9E2A50B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4" y="292100"/>
            <a:ext cx="3386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Module Coverage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D4568-F41E-4FFA-8E04-72A3B70138A5}"/>
              </a:ext>
            </a:extLst>
          </p:cNvPr>
          <p:cNvSpPr/>
          <p:nvPr/>
        </p:nvSpPr>
        <p:spPr>
          <a:xfrm>
            <a:off x="1922464" y="1585914"/>
            <a:ext cx="3978275" cy="489364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pPr eaLnBrk="1" hangingPunct="1">
              <a:defRPr/>
            </a:pPr>
            <a:r>
              <a:rPr lang="en-US" sz="1200" b="1" dirty="0">
                <a:latin typeface="Arial" charset="0"/>
                <a:cs typeface="Arial" charset="0"/>
              </a:rPr>
              <a:t>Introduction to Concurrent Programming :</a:t>
            </a:r>
          </a:p>
          <a:p>
            <a:pPr marL="171450" indent="-171450" eaLnBrk="1" hangingPunct="1">
              <a:buFont typeface="Arial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Concurrency as abstract parallelism</a:t>
            </a:r>
          </a:p>
          <a:p>
            <a:pPr marL="171450" indent="-171450" eaLnBrk="1" hangingPunct="1">
              <a:buFont typeface="Arial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The challenge of concurrent programming</a:t>
            </a:r>
          </a:p>
          <a:p>
            <a:pPr marL="171450" indent="-171450" eaLnBrk="1" hangingPunct="1">
              <a:buFont typeface="Arial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Introduction to Parallel Programming :</a:t>
            </a:r>
          </a:p>
          <a:p>
            <a:pPr marL="171450" indent="-171450" eaLnBrk="1" hangingPunct="1">
              <a:buFont typeface="Arial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The challenge of parallel programming</a:t>
            </a:r>
          </a:p>
          <a:p>
            <a:pPr eaLnBrk="1" hangingPunct="1">
              <a:defRPr/>
            </a:pPr>
            <a:endParaRPr lang="en-US" sz="12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1200" b="1" dirty="0">
                <a:latin typeface="Arial" charset="0"/>
                <a:cs typeface="Arial" charset="0"/>
              </a:rPr>
              <a:t>The terminology of concurrency and parallelism:</a:t>
            </a:r>
          </a:p>
          <a:p>
            <a:pPr eaLnBrk="1" hangingPunct="1">
              <a:defRPr/>
            </a:pPr>
            <a:r>
              <a:rPr lang="en-US" sz="1200" b="1" dirty="0">
                <a:latin typeface="Arial" charset="0"/>
                <a:cs typeface="Arial" charset="0"/>
              </a:rPr>
              <a:t>• </a:t>
            </a:r>
            <a:r>
              <a:rPr lang="en-US" sz="1200" dirty="0">
                <a:latin typeface="Arial" charset="0"/>
                <a:cs typeface="Arial" charset="0"/>
              </a:rPr>
              <a:t>Multitasking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Multiple computers</a:t>
            </a:r>
          </a:p>
          <a:p>
            <a:pPr eaLnBrk="1" hangingPunct="1">
              <a:defRPr/>
            </a:pPr>
            <a:endParaRPr lang="en-US" sz="12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1200" b="1" dirty="0">
                <a:latin typeface="Arial" charset="0"/>
                <a:cs typeface="Arial" charset="0"/>
              </a:rPr>
              <a:t>Concurrency concepts :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Concurrency types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Round Robin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Scheduler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Priority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Processes v Threads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</a:t>
            </a:r>
            <a:r>
              <a:rPr lang="en-US" sz="1200" dirty="0" err="1">
                <a:latin typeface="Arial" charset="0"/>
                <a:cs typeface="Arial" charset="0"/>
              </a:rPr>
              <a:t>Synchronisation</a:t>
            </a:r>
            <a:endParaRPr lang="en-US" sz="12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</a:t>
            </a:r>
            <a:r>
              <a:rPr lang="en-US" sz="1200" dirty="0" err="1">
                <a:latin typeface="Arial" charset="0"/>
                <a:cs typeface="Arial" charset="0"/>
              </a:rPr>
              <a:t>Asynchronicity</a:t>
            </a:r>
            <a:endParaRPr lang="en-US" sz="12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Arial" charset="0"/>
              </a:rPr>
              <a:t>• Mutual exclusion</a:t>
            </a:r>
          </a:p>
          <a:p>
            <a:pPr eaLnBrk="1" hangingPunct="1">
              <a:defRPr/>
            </a:pPr>
            <a:endParaRPr lang="en-US" sz="1200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1200" b="1" dirty="0">
                <a:latin typeface="Arial" charset="0"/>
                <a:cs typeface="Arial" charset="0"/>
              </a:rPr>
              <a:t>Concepts and Terminology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von Neumann Computer Architecture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Flynn's Classical Taxonomy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Some General Parallel Terminology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Arial" charset="0"/>
                <a:cs typeface="Arial" charset="0"/>
              </a:rPr>
              <a:t>Limits and Costs of Parallel Programming</a:t>
            </a:r>
          </a:p>
          <a:p>
            <a:pPr eaLnBrk="1" hangingPunct="1">
              <a:defRPr/>
            </a:pPr>
            <a:endParaRPr lang="en-GB" sz="1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8056A-FAF8-4EA2-B4AF-A059ED969FA7}"/>
              </a:ext>
            </a:extLst>
          </p:cNvPr>
          <p:cNvSpPr/>
          <p:nvPr/>
        </p:nvSpPr>
        <p:spPr>
          <a:xfrm>
            <a:off x="5900738" y="1585913"/>
            <a:ext cx="4572000" cy="4339650"/>
          </a:xfrm>
          <a:prstGeom prst="rect">
            <a:avLst/>
          </a:prstGeom>
        </p:spPr>
        <p:txBody>
          <a:bodyPr anchor="t">
            <a:spAutoFit/>
          </a:bodyPr>
          <a:lstStyle/>
          <a:p>
            <a:pPr eaLnBrk="1" hangingPunct="1">
              <a:defRPr/>
            </a:pPr>
            <a:r>
              <a:rPr lang="en-US" sz="1200" b="1" dirty="0">
                <a:latin typeface="Arial"/>
                <a:cs typeface="Arial"/>
              </a:rPr>
              <a:t>Parallel Programming Platforms</a:t>
            </a:r>
          </a:p>
          <a:p>
            <a:pPr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Implicit Parallelism</a:t>
            </a:r>
          </a:p>
          <a:p>
            <a:pPr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Parallel Computer Memory Architectures</a:t>
            </a:r>
          </a:p>
          <a:p>
            <a:pPr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Shared Memory</a:t>
            </a:r>
          </a:p>
          <a:p>
            <a:pPr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Distributed Memory</a:t>
            </a:r>
          </a:p>
          <a:p>
            <a:pPr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cs typeface="Arial"/>
              </a:rPr>
              <a:t>Hybrid Distributed-Shared Memory</a:t>
            </a:r>
          </a:p>
          <a:p>
            <a:pPr eaLnBrk="1" hangingPunct="1">
              <a:defRPr/>
            </a:pPr>
            <a:endParaRPr lang="en-US" sz="12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eaLnBrk="1" hangingPunct="1">
              <a:defRPr/>
            </a:pPr>
            <a:r>
              <a:rPr lang="en-GB" sz="1200" b="1" dirty="0" err="1">
                <a:solidFill>
                  <a:srgbClr val="000000"/>
                </a:solidFill>
                <a:latin typeface="Arial"/>
                <a:cs typeface="Arial"/>
              </a:rPr>
              <a:t>Modeling</a:t>
            </a:r>
            <a:r>
              <a:rPr lang="en-GB" sz="1200" b="1" dirty="0">
                <a:solidFill>
                  <a:srgbClr val="000000"/>
                </a:solidFill>
                <a:latin typeface="Arial"/>
                <a:cs typeface="Arial"/>
              </a:rPr>
              <a:t> Parallel Computation</a:t>
            </a:r>
          </a:p>
          <a:p>
            <a:pPr eaLnBrk="1" hangingPunct="1">
              <a:defRPr/>
            </a:pPr>
            <a:r>
              <a:rPr lang="en-GB" sz="1200" dirty="0" err="1">
                <a:solidFill>
                  <a:srgbClr val="000000"/>
                </a:solidFill>
                <a:latin typeface="Arial"/>
                <a:cs typeface="Arial"/>
              </a:rPr>
              <a:t>MultiprocessorModels</a:t>
            </a:r>
            <a:endParaRPr lang="en-GB" sz="1200" dirty="0">
              <a:solidFill>
                <a:srgbClr val="000000"/>
              </a:solidFill>
              <a:latin typeface="Arial"/>
              <a:cs typeface="Arial"/>
            </a:endParaRP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Designing Parallel Programs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Automatic vs. Manual Parallelization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Understand the Problem and the Program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Partitioning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Communications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Synchronization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Data Dependencies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Load Balancing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Granularity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I/O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Debugging</a:t>
            </a:r>
          </a:p>
          <a:p>
            <a:pPr eaLnBrk="1" hangingPunct="1">
              <a:defRPr/>
            </a:pPr>
            <a:r>
              <a:rPr lang="en-GB" sz="1200" dirty="0">
                <a:solidFill>
                  <a:srgbClr val="000000"/>
                </a:solidFill>
                <a:latin typeface="Arial"/>
                <a:cs typeface="Arial"/>
              </a:rPr>
              <a:t>Performance Analysis and Tuning</a:t>
            </a:r>
          </a:p>
          <a:p>
            <a:pPr eaLnBrk="1" hangingPunct="1">
              <a:defRPr/>
            </a:pPr>
            <a:endParaRPr lang="en-GB" sz="12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eaLnBrk="1" hangingPunct="1">
              <a:defRPr/>
            </a:pPr>
            <a:endParaRPr lang="en-GB" sz="12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8CE1569-22E3-4563-8879-0AED4B01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775" y="274638"/>
            <a:ext cx="704215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35B90-A79D-4AA2-87F2-E222B5053305}"/>
              </a:ext>
            </a:extLst>
          </p:cNvPr>
          <p:cNvSpPr/>
          <p:nvPr/>
        </p:nvSpPr>
        <p:spPr bwMode="auto">
          <a:xfrm>
            <a:off x="2011363" y="1697038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Shared objects and Mutual Exclusion :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Case Study: Ornamental garden problem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Interference and Mutual Exclusion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300" b="1" dirty="0">
              <a:latin typeface="+mn-lt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JPPF Architecture and topology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write a JPPF task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create a job and execute it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process the execution results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manage JPPF jobs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run a JPPF application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300" b="1" dirty="0">
              <a:latin typeface="+mn-lt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JPPF task and job APIs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local code changes automatically accounted for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JPPF client APIs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management and monitoring console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configuring JPPF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300" b="1" dirty="0">
              <a:latin typeface="+mn-lt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Load-balancing in JPPF</a:t>
            </a:r>
            <a:br>
              <a:rPr lang="en-US" sz="1300" b="1" dirty="0">
                <a:latin typeface="+mn-lt"/>
              </a:rPr>
            </a:br>
            <a:r>
              <a:rPr lang="en-US" sz="1300" dirty="0">
                <a:latin typeface="+mn-lt"/>
              </a:rPr>
              <a:t>Impact on grid resources usage</a:t>
            </a:r>
            <a:br>
              <a:rPr lang="en-US" sz="1300" dirty="0">
                <a:latin typeface="+mn-lt"/>
              </a:rPr>
            </a:br>
            <a:r>
              <a:rPr lang="en-US" sz="1300" dirty="0">
                <a:latin typeface="+mn-lt"/>
              </a:rPr>
              <a:t>Server-side vs client-side load balancing </a:t>
            </a:r>
            <a:endParaRPr lang="en-GB" sz="1300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3CFD5-0D91-4D2C-8D22-1699AE4B771B}"/>
              </a:ext>
            </a:extLst>
          </p:cNvPr>
          <p:cNvSpPr/>
          <p:nvPr/>
        </p:nvSpPr>
        <p:spPr bwMode="auto">
          <a:xfrm>
            <a:off x="6202363" y="1697038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Parallel Computational Complexity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Physical Organization of Parallel Platforms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Communication Costs in Parallel Machines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300" b="1" dirty="0">
              <a:latin typeface="+mn-lt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Principles of Parallel Algorithm Design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Decomposition Techniques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Characteristics of Tasks and Interactions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Mapping Techniques for Load Balancing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300" b="1" dirty="0">
              <a:latin typeface="+mn-lt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b="1" dirty="0">
                <a:latin typeface="+mn-lt"/>
              </a:rPr>
              <a:t>Advantages of concurrency :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Standard safety issues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liveness,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starvation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Race-condition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Classical problems :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Semaphore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Producer / Consumer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300" dirty="0">
                <a:latin typeface="+mn-lt"/>
              </a:rPr>
              <a:t>• Thread-safe concurrent programs.</a:t>
            </a:r>
            <a:endParaRPr lang="en-GB" sz="1300" dirty="0">
              <a:latin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B93C2880-1A0A-4370-AE98-8709A6BD8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09775" y="274638"/>
            <a:ext cx="704215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eaLnBrk="1" hangingPunct="1"/>
            <a:r>
              <a:rPr lang="en-US" altLang="en-US" b="1"/>
              <a:t>What is expected of you - Class</a:t>
            </a:r>
            <a:endParaRPr lang="en-US" altLang="en-US"/>
          </a:p>
        </p:txBody>
      </p:sp>
      <p:graphicFrame>
        <p:nvGraphicFramePr>
          <p:cNvPr id="57349" name="Content Placeholder 2">
            <a:extLst>
              <a:ext uri="{FF2B5EF4-FFF2-40B4-BE49-F238E27FC236}">
                <a16:creationId xmlns:a16="http://schemas.microsoft.com/office/drawing/2014/main" id="{7052218B-6B3B-4E66-9BBE-CC1C1696C2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11363" y="16970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6354-C858-48E4-B110-97292B4B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A0BF9-3559-412E-A48C-662A7CDFD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Eclipse</a:t>
            </a:r>
          </a:p>
          <a:p>
            <a:r>
              <a:rPr lang="en-US" dirty="0" err="1"/>
              <a:t>Netbeans</a:t>
            </a:r>
            <a:endParaRPr lang="en-US" dirty="0"/>
          </a:p>
          <a:p>
            <a:r>
              <a:rPr lang="en-US" dirty="0"/>
              <a:t>IntelliJ</a:t>
            </a:r>
          </a:p>
        </p:txBody>
      </p:sp>
    </p:spTree>
    <p:extLst>
      <p:ext uri="{BB962C8B-B14F-4D97-AF65-F5344CB8AC3E}">
        <p14:creationId xmlns:p14="http://schemas.microsoft.com/office/powerpoint/2010/main" val="760570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3DF7F6F2-B02B-4192-A657-CC76385E9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Install IDE</a:t>
            </a:r>
          </a:p>
          <a:p>
            <a:pPr eaLnBrk="1" hangingPunct="1"/>
            <a:r>
              <a:rPr lang="en-US" altLang="en-US" dirty="0"/>
              <a:t>Java 8 = JDK 1.8</a:t>
            </a:r>
          </a:p>
          <a:p>
            <a:pPr eaLnBrk="1" hangingPunct="1"/>
            <a:r>
              <a:rPr lang="en-US" altLang="en-US" dirty="0"/>
              <a:t>Java quiz</a:t>
            </a:r>
          </a:p>
          <a:p>
            <a:pPr eaLnBrk="1" hangingPunct="1"/>
            <a:r>
              <a:rPr lang="en-US" altLang="en-US" dirty="0"/>
              <a:t>What is concurrent and parallel programming?</a:t>
            </a: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76E11D7D-EA72-470F-AE26-4C3526ED7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7975" y="569139"/>
            <a:ext cx="5069016" cy="553998"/>
          </a:xfrm>
        </p:spPr>
        <p:txBody>
          <a:bodyPr wrap="none">
            <a:spAutoFit/>
          </a:bodyPr>
          <a:lstStyle/>
          <a:p>
            <a:pPr eaLnBrk="1" hangingPunct="1"/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D06E-7B0E-407F-812E-255325F1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8 = JDK 1.8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A20FA-2344-4F9A-BD6A-33255E671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https://www.oracle.com/java/technologies/downloads/#java8-windows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1325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DFE9-2764-493F-962B-BA8DCB66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1B6AC6"/>
                </a:solidFill>
                <a:effectLst/>
                <a:latin typeface="Open Sans" panose="020B0606030504020204" pitchFamily="34" charset="0"/>
              </a:rPr>
              <a:t>Enabling JDK 8 Support in NetBeans 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BB55-1330-4534-8011-953F29159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https://netbeans.apache.org/kb/docs/java/javase-jdk8.html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9498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Text Box 2">
            <a:extLst>
              <a:ext uri="{FF2B5EF4-FFF2-40B4-BE49-F238E27FC236}">
                <a16:creationId xmlns:a16="http://schemas.microsoft.com/office/drawing/2014/main" id="{49B6115C-FDD7-4E6E-A4E2-4ED1F6DF3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1" y="2819400"/>
            <a:ext cx="4568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  <p:sp>
        <p:nvSpPr>
          <p:cNvPr id="58372" name="Text Box 3">
            <a:extLst>
              <a:ext uri="{FF2B5EF4-FFF2-40B4-BE49-F238E27FC236}">
                <a16:creationId xmlns:a16="http://schemas.microsoft.com/office/drawing/2014/main" id="{92E3B313-4203-4F45-A4E0-7BCEAA202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4" y="411164"/>
            <a:ext cx="60229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3366"/>
                </a:solidFill>
              </a:rPr>
              <a:t>Question and Answer Session</a:t>
            </a:r>
            <a:endParaRPr lang="en-US" altLang="en-US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3DF7F6F2-B02B-4192-A657-CC76385E9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is concurrent and parallel programming?</a:t>
            </a: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76E11D7D-EA72-470F-AE26-4C3526ED7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7975" y="569139"/>
            <a:ext cx="5069016" cy="553998"/>
          </a:xfrm>
        </p:spPr>
        <p:txBody>
          <a:bodyPr wrap="none">
            <a:spAutoFit/>
          </a:bodyPr>
          <a:lstStyle/>
          <a:p>
            <a:pPr eaLnBrk="1" hangingPunct="1"/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1467</TotalTime>
  <Pages>11</Pages>
  <Words>1168</Words>
  <Application>Microsoft Office PowerPoint</Application>
  <PresentationFormat>Widescreen</PresentationFormat>
  <Paragraphs>214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Century Gothic</vt:lpstr>
      <vt:lpstr>Montserrat</vt:lpstr>
      <vt:lpstr>Open Sans</vt:lpstr>
      <vt:lpstr>PT Sans</vt:lpstr>
      <vt:lpstr>Wingdings</vt:lpstr>
      <vt:lpstr>UCTI-Template-foundation-level</vt:lpstr>
      <vt:lpstr>PowerPoint Presentation</vt:lpstr>
      <vt:lpstr>PowerPoint Presentation</vt:lpstr>
      <vt:lpstr>PowerPoint Presentation</vt:lpstr>
      <vt:lpstr>Java</vt:lpstr>
      <vt:lpstr>Aims of this module</vt:lpstr>
      <vt:lpstr>PowerPoint Presentation</vt:lpstr>
      <vt:lpstr>Mapping of CLOs with MOEs Domain</vt:lpstr>
      <vt:lpstr>MQF and MOE Domains</vt:lpstr>
      <vt:lpstr>Teaching Strategies</vt:lpstr>
      <vt:lpstr>PowerPoint Presentation</vt:lpstr>
      <vt:lpstr>PowerPoint Presentation</vt:lpstr>
      <vt:lpstr>Methods of Delivery </vt:lpstr>
      <vt:lpstr>Outcomes Based Education (OBE)</vt:lpstr>
      <vt:lpstr>So…What is OBE?</vt:lpstr>
      <vt:lpstr>What is expected of you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expected of you - Class</vt:lpstr>
      <vt:lpstr>IDE</vt:lpstr>
      <vt:lpstr>What we will cover next</vt:lpstr>
      <vt:lpstr>Java 8 = JDK 1.8</vt:lpstr>
      <vt:lpstr>Enabling JDK 8 Support in NetBeans IDE</vt:lpstr>
      <vt:lpstr>PowerPoint Presentation</vt:lpstr>
      <vt:lpstr>What we will cover next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Shyam Sunder Palle</cp:lastModifiedBy>
  <cp:revision>331</cp:revision>
  <cp:lastPrinted>2023-02-03T03:07:34Z</cp:lastPrinted>
  <dcterms:created xsi:type="dcterms:W3CDTF">2005-08-02T10:18:20Z</dcterms:created>
  <dcterms:modified xsi:type="dcterms:W3CDTF">2026-02-24T00:27:42Z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