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58"/>
  </p:notesMasterIdLst>
  <p:handoutMasterIdLst>
    <p:handoutMasterId r:id="rId59"/>
  </p:handoutMasterIdLst>
  <p:sldIdLst>
    <p:sldId id="256" r:id="rId5"/>
    <p:sldId id="311" r:id="rId6"/>
    <p:sldId id="307" r:id="rId7"/>
    <p:sldId id="314" r:id="rId8"/>
    <p:sldId id="313" r:id="rId9"/>
    <p:sldId id="312" r:id="rId10"/>
    <p:sldId id="315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31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308" r:id="rId42"/>
    <p:sldId id="309" r:id="rId43"/>
    <p:sldId id="310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300" r:id="rId54"/>
    <p:sldId id="301" r:id="rId55"/>
    <p:sldId id="449" r:id="rId56"/>
    <p:sldId id="302" r:id="rId57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311"/>
            <p14:sldId id="307"/>
            <p14:sldId id="314"/>
            <p14:sldId id="313"/>
            <p14:sldId id="312"/>
            <p14:sldId id="31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31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308"/>
            <p14:sldId id="309"/>
            <p14:sldId id="310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300"/>
            <p14:sldId id="301"/>
            <p14:sldId id="449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568C8-149A-46FA-BFD1-85B11F2ED2D0}" v="1" dt="2023-11-06T05:00:31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279" autoAdjust="0"/>
    <p:restoredTop sz="94249" autoAdjust="0"/>
  </p:normalViewPr>
  <p:slideViewPr>
    <p:cSldViewPr snapToGrid="0">
      <p:cViewPr varScale="1">
        <p:scale>
          <a:sx n="109" d="100"/>
          <a:sy n="109" d="100"/>
        </p:scale>
        <p:origin x="654" y="96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482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lan Arabee Abdul Salam" userId="5bc04053-34d1-46af-a9d4-ff754460ad4b" providerId="ADAL" clId="{0B228186-C5D7-406B-8FFE-628358FD5FF3}"/>
    <pc:docChg chg="addSld delSld modSld modSection">
      <pc:chgData name="Zailan Arabee Abdul Salam" userId="5bc04053-34d1-46af-a9d4-ff754460ad4b" providerId="ADAL" clId="{0B228186-C5D7-406B-8FFE-628358FD5FF3}" dt="2023-10-30T03:35:57.447" v="4" actId="47"/>
      <pc:docMkLst>
        <pc:docMk/>
      </pc:docMkLst>
      <pc:sldChg chg="del">
        <pc:chgData name="Zailan Arabee Abdul Salam" userId="5bc04053-34d1-46af-a9d4-ff754460ad4b" providerId="ADAL" clId="{0B228186-C5D7-406B-8FFE-628358FD5FF3}" dt="2023-10-30T03:35:24.703" v="1" actId="47"/>
        <pc:sldMkLst>
          <pc:docMk/>
          <pc:sldMk cId="0" sldId="450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1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2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5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6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70"/>
        </pc:sldMkLst>
      </pc:sldChg>
      <pc:sldChg chg="modSp add">
        <pc:chgData name="Zailan Arabee Abdul Salam" userId="5bc04053-34d1-46af-a9d4-ff754460ad4b" providerId="ADAL" clId="{0B228186-C5D7-406B-8FFE-628358FD5FF3}" dt="2023-10-30T03:35:30.401" v="2" actId="207"/>
        <pc:sldMkLst>
          <pc:docMk/>
          <pc:sldMk cId="0" sldId="477"/>
        </pc:sldMkLst>
        <pc:spChg chg="mod">
          <ac:chgData name="Zailan Arabee Abdul Salam" userId="5bc04053-34d1-46af-a9d4-ff754460ad4b" providerId="ADAL" clId="{0B228186-C5D7-406B-8FFE-628358FD5FF3}" dt="2023-10-30T03:35:30.401" v="2" actId="207"/>
          <ac:spMkLst>
            <pc:docMk/>
            <pc:sldMk cId="0" sldId="477"/>
            <ac:spMk id="5123" creationId="{713C795F-4664-0E3D-FDF5-F17875829EA6}"/>
          </ac:spMkLst>
        </pc:spChg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78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79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0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3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4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5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6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7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8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89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0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1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2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3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4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5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496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1365223114" sldId="497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98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499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1513996357" sldId="500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1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2768932918" sldId="502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3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4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5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6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7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0" sldId="508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2468692945" sldId="509"/>
        </pc:sldMkLst>
      </pc:sldChg>
      <pc:sldChg chg="del">
        <pc:chgData name="Zailan Arabee Abdul Salam" userId="5bc04053-34d1-46af-a9d4-ff754460ad4b" providerId="ADAL" clId="{0B228186-C5D7-406B-8FFE-628358FD5FF3}" dt="2023-10-30T03:35:54.626" v="3" actId="47"/>
        <pc:sldMkLst>
          <pc:docMk/>
          <pc:sldMk cId="1307870646" sldId="510"/>
        </pc:sldMkLst>
      </pc:sldChg>
      <pc:sldChg chg="del">
        <pc:chgData name="Zailan Arabee Abdul Salam" userId="5bc04053-34d1-46af-a9d4-ff754460ad4b" providerId="ADAL" clId="{0B228186-C5D7-406B-8FFE-628358FD5FF3}" dt="2023-10-30T03:35:57.447" v="4" actId="47"/>
        <pc:sldMkLst>
          <pc:docMk/>
          <pc:sldMk cId="0" sldId="511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2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3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4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5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6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7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8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19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0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1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2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3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4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5"/>
        </pc:sldMkLst>
      </pc:sldChg>
      <pc:sldChg chg="add">
        <pc:chgData name="Zailan Arabee Abdul Salam" userId="5bc04053-34d1-46af-a9d4-ff754460ad4b" providerId="ADAL" clId="{0B228186-C5D7-406B-8FFE-628358FD5FF3}" dt="2023-10-30T03:35:22.102" v="0"/>
        <pc:sldMkLst>
          <pc:docMk/>
          <pc:sldMk cId="0" sldId="526"/>
        </pc:sldMkLst>
      </pc:sldChg>
      <pc:sldMasterChg chg="delSldLayout">
        <pc:chgData name="Zailan Arabee Abdul Salam" userId="5bc04053-34d1-46af-a9d4-ff754460ad4b" providerId="ADAL" clId="{0B228186-C5D7-406B-8FFE-628358FD5FF3}" dt="2023-10-30T03:35:54.626" v="3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0B228186-C5D7-406B-8FFE-628358FD5FF3}" dt="2023-10-30T03:35:54.626" v="3" actId="47"/>
          <pc:sldLayoutMkLst>
            <pc:docMk/>
            <pc:sldMasterMk cId="0" sldId="2147483651"/>
            <pc:sldLayoutMk cId="1084219752" sldId="2147483759"/>
          </pc:sldLayoutMkLst>
        </pc:sldLayoutChg>
      </pc:sldMasterChg>
    </pc:docChg>
  </pc:docChgLst>
  <pc:docChgLst>
    <pc:chgData name="Zailan Arabee Abdul Salam" userId="5bc04053-34d1-46af-a9d4-ff754460ad4b" providerId="ADAL" clId="{A0333D6F-5E67-435A-B1D3-C03FF9393500}"/>
    <pc:docChg chg="addSld delSld modSld modSection">
      <pc:chgData name="Zailan Arabee Abdul Salam" userId="5bc04053-34d1-46af-a9d4-ff754460ad4b" providerId="ADAL" clId="{A0333D6F-5E67-435A-B1D3-C03FF9393500}" dt="2023-10-30T03:31:00.820" v="2" actId="47"/>
      <pc:docMkLst>
        <pc:docMk/>
      </pc:docMkLst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4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64"/>
        </pc:sldMkLst>
      </pc:sldChg>
      <pc:sldChg chg="del">
        <pc:chgData name="Zailan Arabee Abdul Salam" userId="5bc04053-34d1-46af-a9d4-ff754460ad4b" providerId="ADAL" clId="{A0333D6F-5E67-435A-B1D3-C03FF9393500}" dt="2023-10-30T03:30:42.447" v="1" actId="47"/>
        <pc:sldMkLst>
          <pc:docMk/>
          <pc:sldMk cId="0" sldId="36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6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2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7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2755726583" sldId="47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3358647978" sldId="479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372360413" sldId="48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9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6"/>
        </pc:sldMkLst>
      </pc:sldChg>
    </pc:docChg>
  </pc:docChgLst>
  <pc:docChgLst>
    <pc:chgData name="Zailan Arabee Abdul Salam" userId="5bc04053-34d1-46af-a9d4-ff754460ad4b" providerId="ADAL" clId="{357568C8-149A-46FA-BFD1-85B11F2ED2D0}"/>
    <pc:docChg chg="addSld delSld modSld modSection">
      <pc:chgData name="Zailan Arabee Abdul Salam" userId="5bc04053-34d1-46af-a9d4-ff754460ad4b" providerId="ADAL" clId="{357568C8-149A-46FA-BFD1-85B11F2ED2D0}" dt="2023-11-06T05:00:54.646" v="3" actId="47"/>
      <pc:docMkLst>
        <pc:docMk/>
      </pc:docMkLst>
      <pc:sldChg chg="modSp add mod">
        <pc:chgData name="Zailan Arabee Abdul Salam" userId="5bc04053-34d1-46af-a9d4-ff754460ad4b" providerId="ADAL" clId="{357568C8-149A-46FA-BFD1-85B11F2ED2D0}" dt="2023-11-06T05:00:37.725" v="2" actId="207"/>
        <pc:sldMkLst>
          <pc:docMk/>
          <pc:sldMk cId="0" sldId="256"/>
        </pc:sldMkLst>
        <pc:spChg chg="mod">
          <ac:chgData name="Zailan Arabee Abdul Salam" userId="5bc04053-34d1-46af-a9d4-ff754460ad4b" providerId="ADAL" clId="{357568C8-149A-46FA-BFD1-85B11F2ED2D0}" dt="2023-11-06T05:00:37.725" v="2" actId="207"/>
          <ac:spMkLst>
            <pc:docMk/>
            <pc:sldMk cId="0" sldId="256"/>
            <ac:spMk id="4" creationId="{4A0E4929-A587-487D-86C7-92BF6C83A036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57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58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59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0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0"/>
            <ac:spMk id="25603" creationId="{590F0A6C-14C9-4EC3-8573-D5D2AE4410BB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1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2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3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4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4"/>
            <ac:spMk id="30723" creationId="{85E2D1FA-DAA1-4509-AA6A-02CC54F38634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5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5"/>
            <ac:spMk id="32771" creationId="{90E00B2E-650D-4FA3-B294-769256C5AFEE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6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6"/>
            <ac:spMk id="34819" creationId="{1E094388-FD87-4CC3-9C38-9B001589EB9C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7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7"/>
            <ac:spMk id="36867" creationId="{6A6A68EB-3C0C-4FF5-A272-6BAAD60C0E81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8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8"/>
            <ac:spMk id="38915" creationId="{29C8247A-2240-470B-9639-040BD3B3CF2B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69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69"/>
            <ac:spMk id="40963" creationId="{2A317D24-EC14-44C2-8EDB-F9E4F28B8E4C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0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70"/>
            <ac:spMk id="43011" creationId="{48B550CE-FC6B-4E8A-B909-26CA854BCC64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1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71"/>
            <ac:spMk id="45059" creationId="{0645FA9D-D75D-4E9B-A6FD-712A722597DA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2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72"/>
            <ac:spMk id="47107" creationId="{AA82E598-5C17-4F61-BAA5-892E8118DA33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3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73"/>
            <ac:spMk id="49155" creationId="{DC7597E9-9E16-4194-898F-706C9626DCED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4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8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79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0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80"/>
            <ac:spMk id="56322" creationId="{B07F5EF0-0BBF-4B0F-9DFA-41965A2CB011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1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81"/>
            <ac:spMk id="58370" creationId="{B9050D4A-89E6-4290-A2E7-8DE347A63E1E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2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3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4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5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85"/>
            <ac:spMk id="65538" creationId="{DAAD0897-3547-4131-9EA2-93F596EF2E3D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6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7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87"/>
            <ac:spMk id="68611" creationId="{D7A26B17-75BC-4655-AE2C-4EF693B38101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8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88"/>
            <ac:spMk id="70659" creationId="{EF96B28A-1816-491D-B4CD-7D12549D1363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89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0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90"/>
            <ac:spMk id="73731" creationId="{1ADAF691-33F8-462A-8D83-39EBBC2A380C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1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91"/>
            <ac:spMk id="75779" creationId="{387DC5E4-2245-4709-B438-04CC499EF9AD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2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92"/>
            <ac:spMk id="77827" creationId="{A69CB441-3DA2-4A1F-B2C7-92E25C5BDA01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3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293"/>
            <ac:spMk id="79875" creationId="{8456E09B-F9A8-4FED-90E0-9CB41989F292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4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295"/>
        </pc:sldMkLst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300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300"/>
            <ac:spMk id="88066" creationId="{AE0B719E-3AE0-4B61-9698-A5FB01AFE90F}"/>
          </ac:spMkLst>
        </pc:spChg>
      </pc:sldChg>
      <pc:sldChg chg="modSp add modNotes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301"/>
        </pc:sldMkLst>
        <pc:spChg chg="mod">
          <ac:chgData name="Zailan Arabee Abdul Salam" userId="5bc04053-34d1-46af-a9d4-ff754460ad4b" providerId="ADAL" clId="{357568C8-149A-46FA-BFD1-85B11F2ED2D0}" dt="2023-11-06T05:00:31.603" v="0"/>
          <ac:spMkLst>
            <pc:docMk/>
            <pc:sldMk cId="0" sldId="301"/>
            <ac:spMk id="90114" creationId="{B18271C3-9DBA-4FD0-B434-C170EA8F99B1}"/>
          </ac:spMkLst>
        </pc:spChg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0" sldId="302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3107691650" sldId="307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3248001630" sldId="308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392031535" sldId="309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1314171599" sldId="310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2647926845" sldId="311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3852000912" sldId="312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2896788663" sldId="313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14861056" sldId="314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1104393446" sldId="315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2909282276" sldId="316"/>
        </pc:sldMkLst>
      </pc:sldChg>
      <pc:sldChg chg="add">
        <pc:chgData name="Zailan Arabee Abdul Salam" userId="5bc04053-34d1-46af-a9d4-ff754460ad4b" providerId="ADAL" clId="{357568C8-149A-46FA-BFD1-85B11F2ED2D0}" dt="2023-11-06T05:00:31.603" v="0"/>
        <pc:sldMkLst>
          <pc:docMk/>
          <pc:sldMk cId="4007140080" sldId="449"/>
        </pc:sldMkLst>
      </pc:sldChg>
      <pc:sldChg chg="del">
        <pc:chgData name="Zailan Arabee Abdul Salam" userId="5bc04053-34d1-46af-a9d4-ff754460ad4b" providerId="ADAL" clId="{357568C8-149A-46FA-BFD1-85B11F2ED2D0}" dt="2023-11-06T05:00:33.325" v="1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78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79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0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3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4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5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6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7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8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89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0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1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2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3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4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5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496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2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3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4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5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6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7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8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19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0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1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2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3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4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5"/>
        </pc:sldMkLst>
      </pc:sldChg>
      <pc:sldChg chg="del">
        <pc:chgData name="Zailan Arabee Abdul Salam" userId="5bc04053-34d1-46af-a9d4-ff754460ad4b" providerId="ADAL" clId="{357568C8-149A-46FA-BFD1-85B11F2ED2D0}" dt="2023-11-06T05:00:54.646" v="3" actId="47"/>
        <pc:sldMkLst>
          <pc:docMk/>
          <pc:sldMk cId="0" sldId="526"/>
        </pc:sldMkLst>
      </pc:sldChg>
    </pc:docChg>
  </pc:docChgLst>
  <pc:docChgLst>
    <pc:chgData name="Zailan Arabee Abdul Salam" userId="5bc04053-34d1-46af-a9d4-ff754460ad4b" providerId="ADAL" clId="{A2B7F123-4DA0-45CE-B8C2-521D45FDE29C}"/>
    <pc:docChg chg="addSld delSld modSld modSection">
      <pc:chgData name="Zailan Arabee Abdul Salam" userId="5bc04053-34d1-46af-a9d4-ff754460ad4b" providerId="ADAL" clId="{A2B7F123-4DA0-45CE-B8C2-521D45FDE29C}" dt="2023-10-30T03:26:18.778" v="2" actId="47"/>
      <pc:docMkLst>
        <pc:docMk/>
      </pc:docMkLst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25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6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6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027869332" sldId="27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25035349" sldId="28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979819931" sldId="28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994277211" sldId="28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894897432" sldId="28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83618775" sldId="28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831505793" sldId="28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147883940" sldId="28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929223683" sldId="29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4364869" sldId="29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93804965" sldId="29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053078876" sldId="29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A2B7F123-4DA0-45CE-B8C2-521D45FDE29C}" dt="2023-10-30T03:26:09.451" v="1" actId="47"/>
        <pc:sldMkLst>
          <pc:docMk/>
          <pc:sldMk cId="0" sldId="31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847682019" sldId="32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28"/>
        </pc:sldMkLst>
      </pc:sldChg>
      <pc:sldChg chg="add modNotes">
        <pc:chgData name="Zailan Arabee Abdul Salam" userId="5bc04053-34d1-46af-a9d4-ff754460ad4b" providerId="ADAL" clId="{A2B7F123-4DA0-45CE-B8C2-521D45FDE29C}" dt="2023-10-30T03:26:06.324" v="0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763272302" sldId="34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184319698" sldId="46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912884228" sldId="46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755726583" sldId="47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2360413" sldId="48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564082965" sldId="48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254383725" sldId="48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414928201" sldId="48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439302342" sldId="48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34300543" sldId="48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332866878" sldId="49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51422715" sldId="49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31145266" sldId="49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142129247" sldId="49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780427012" sldId="49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959013417" sldId="49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71056352" sldId="49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399879192" sldId="49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500488050" sldId="49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885538886" sldId="49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062332636" sldId="50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145781160" sldId="50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824347951" sldId="50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333830559" sldId="50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126277076" sldId="50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5118991" sldId="50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23502574" sldId="50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70038255" sldId="50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998009960" sldId="50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140105713" sldId="50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367596249" sldId="51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715310179" sldId="51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439912198" sldId="5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911786166" sldId="5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660146254" sldId="53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056397220" sldId="53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738791202" sldId="53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145607291" sldId="5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6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8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57055625" sldId="120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20312096" sldId="120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942685393" sldId="120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88058532" sldId="121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240314709" sldId="121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226352155" sldId="121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51448939" sldId="12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57944733" sldId="121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339351395" sldId="121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22543335" sldId="121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74055479" sldId="121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43552459" sldId="122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58344780" sldId="122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93834506" sldId="122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777901036" sldId="122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764643366" sldId="122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367724023" sldId="122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936123331" sldId="122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00039276" sldId="122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158129888" sldId="122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83043137" sldId="123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745391551" sldId="123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536754208" sldId="123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81593252" sldId="12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74274139" sldId="123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60256601" sldId="123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066858650" sldId="189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774009567" sldId="189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477102949" sldId="189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208853802" sldId="189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426269947" sldId="189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77559160" sldId="190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302651925" sldId="190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917068273" sldId="190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895380168" sldId="190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55597957" sldId="190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73843950" sldId="191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30886124" sldId="191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072523526" sldId="19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851357154" sldId="191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98809152" sldId="191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106057987" sldId="191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421019088" sldId="193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13217203" sldId="193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36985544" sldId="194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713316994" sldId="194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845779338" sldId="194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33749879" sldId="194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196535212" sldId="194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672633410" sldId="194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874458156" sldId="194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47"/>
        </pc:sldMkLst>
      </pc:sldChg>
      <pc:sldMasterChg chg="delSldLayout">
        <pc:chgData name="Zailan Arabee Abdul Salam" userId="5bc04053-34d1-46af-a9d4-ff754460ad4b" providerId="ADAL" clId="{A2B7F123-4DA0-45CE-B8C2-521D45FDE29C}" dt="2023-10-30T03:26:18.778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1406587582" sldId="2147483759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48887668" sldId="2147483760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853447008" sldId="2147483761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3781432196" sldId="2147483762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319796192" sldId="2147483763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353331877" sldId="2147483764"/>
          </pc:sldLayoutMkLst>
        </pc:sldLayoutChg>
      </pc:sldMasterChg>
    </pc:docChg>
  </pc:docChgLst>
  <pc:docChgLst>
    <pc:chgData name="Zailan Arabee Abdul Salam" userId="5bc04053-34d1-46af-a9d4-ff754460ad4b" providerId="ADAL" clId="{76D53FD3-137B-42A7-8814-A5128FB68CB9}"/>
    <pc:docChg chg="addSld delSld modSld modSection">
      <pc:chgData name="Zailan Arabee Abdul Salam" userId="5bc04053-34d1-46af-a9d4-ff754460ad4b" providerId="ADAL" clId="{76D53FD3-137B-42A7-8814-A5128FB68CB9}" dt="2023-10-30T03:24:22.666" v="2" actId="47"/>
      <pc:docMkLst>
        <pc:docMk/>
      </pc:docMkLst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25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027869332" sldId="27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225035349" sldId="28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79819931" sldId="28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94277211" sldId="2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894897432" sldId="2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083618775" sldId="2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831505793" sldId="2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147883940" sldId="2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929223683" sldId="2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4364869" sldId="2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93804965" sldId="2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053078876" sldId="29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76D53FD3-137B-42A7-8814-A5128FB68CB9}" dt="2023-10-30T03:24:00.858" v="1" actId="47"/>
        <pc:sldMkLst>
          <pc:docMk/>
          <pc:sldMk cId="66905897" sldId="32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47682019" sldId="3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2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81059157" sldId="3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732822587" sldId="3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800784675" sldId="3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509633848" sldId="3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728493372" sldId="3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43501658" sldId="3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253409991" sldId="3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84319698" sldId="46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912884228" sldId="46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755726583" sldId="47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2360413" sldId="48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564082965" sldId="48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254383725" sldId="48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14928201" sldId="48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39302342" sldId="48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34300543" sldId="48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32866878" sldId="49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51422715" sldId="4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500488050" sldId="4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85538886" sldId="4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62332636" sldId="50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45781160" sldId="5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24347951" sldId="5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33830559" sldId="5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126277076" sldId="50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5118991" sldId="5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23502574" sldId="50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0038255" sldId="50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98009960" sldId="5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40105713" sldId="50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67596249" sldId="5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715310179" sldId="5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39912198" sldId="5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11786166" sldId="5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066858650" sldId="18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774009567" sldId="189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477102949" sldId="189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208853802" sldId="18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26269947" sldId="18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7559160" sldId="19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02651925" sldId="19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17068273" sldId="19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95380168" sldId="19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55597957" sldId="19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73843950" sldId="19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30886124" sldId="191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72523526" sldId="19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851357154" sldId="19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8809152" sldId="19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06057987" sldId="191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4"/>
        </pc:sldMkLst>
      </pc:sldChg>
    </pc:docChg>
  </pc:docChgLst>
  <pc:docChgLst>
    <pc:chgData name="Zailan Arabee Abdul Salam" userId="5bc04053-34d1-46af-a9d4-ff754460ad4b" providerId="ADAL" clId="{DC979ACE-1A26-44C6-AC30-58F75F4E12CD}"/>
    <pc:docChg chg="addSld delSld modSld modSection">
      <pc:chgData name="Zailan Arabee Abdul Salam" userId="5bc04053-34d1-46af-a9d4-ff754460ad4b" providerId="ADAL" clId="{DC979ACE-1A26-44C6-AC30-58F75F4E12CD}" dt="2023-10-30T03:32:53.614" v="3" actId="207"/>
      <pc:docMkLst>
        <pc:docMk/>
      </pc:docMkLst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DC979ACE-1A26-44C6-AC30-58F75F4E12CD}" dt="2023-10-30T03:32:03.058" v="1" actId="47"/>
        <pc:sldMkLst>
          <pc:docMk/>
          <pc:sldMk cId="0" sldId="42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9"/>
        </pc:sldMkLst>
      </pc:sldChg>
      <pc:sldChg chg="modSp add">
        <pc:chgData name="Zailan Arabee Abdul Salam" userId="5bc04053-34d1-46af-a9d4-ff754460ad4b" providerId="ADAL" clId="{DC979ACE-1A26-44C6-AC30-58F75F4E12CD}" dt="2023-10-30T03:32:53.614" v="3" actId="207"/>
        <pc:sldMkLst>
          <pc:docMk/>
          <pc:sldMk cId="0" sldId="450"/>
        </pc:sldMkLst>
        <pc:spChg chg="mod">
          <ac:chgData name="Zailan Arabee Abdul Salam" userId="5bc04053-34d1-46af-a9d4-ff754460ad4b" providerId="ADAL" clId="{DC979ACE-1A26-44C6-AC30-58F75F4E12CD}" dt="2023-10-30T03:32:53.614" v="3" actId="207"/>
          <ac:spMkLst>
            <pc:docMk/>
            <pc:sldMk cId="0" sldId="450"/>
            <ac:spMk id="3075" creationId="{3B6F934B-648E-46F4-8C57-7C562A88D215}"/>
          </ac:spMkLst>
        </pc:sp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1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5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6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2755726583" sldId="47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3358647978" sldId="479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372360413" sldId="48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6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9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365223114" sldId="49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9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9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513996357" sldId="500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1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2768932918" sldId="50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5"/>
        </pc:sldMkLst>
      </pc:sldChg>
      <pc:sldChg chg="modSp 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6"/>
        </pc:sldMkLst>
        <pc:spChg chg="mod">
          <ac:chgData name="Zailan Arabee Abdul Salam" userId="5bc04053-34d1-46af-a9d4-ff754460ad4b" providerId="ADAL" clId="{DC979ACE-1A26-44C6-AC30-58F75F4E12CD}" dt="2023-10-30T03:32:01.127" v="0"/>
          <ac:spMkLst>
            <pc:docMk/>
            <pc:sldMk cId="0" sldId="506"/>
            <ac:spMk id="48132" creationId="{48EA60D4-3DCA-4696-93C3-DF9F2DFA64B6}"/>
          </ac:spMkLst>
        </pc:sp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2468692945" sldId="50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307870646" sldId="510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11"/>
        </pc:sldMkLst>
      </pc:sldChg>
    </pc:docChg>
  </pc:docChgLst>
  <pc:docChgLst>
    <pc:chgData name="Zailan Arabee Abdul Salam" userId="5bc04053-34d1-46af-a9d4-ff754460ad4b" providerId="ADAL" clId="{CD11030C-D4AC-4F37-A72F-13B7307DA009}"/>
    <pc:docChg chg="addSld delSld modSld modSection">
      <pc:chgData name="Zailan Arabee Abdul Salam" userId="5bc04053-34d1-46af-a9d4-ff754460ad4b" providerId="ADAL" clId="{CD11030C-D4AC-4F37-A72F-13B7307DA009}" dt="2023-10-30T03:22:14.857" v="3" actId="47"/>
      <pc:docMkLst>
        <pc:docMk/>
      </pc:docMkLst>
      <pc:sldChg chg="add del">
        <pc:chgData name="Zailan Arabee Abdul Salam" userId="5bc04053-34d1-46af-a9d4-ff754460ad4b" providerId="ADAL" clId="{CD11030C-D4AC-4F37-A72F-13B7307DA009}" dt="2023-10-30T03:21:44.711" v="2" actId="47"/>
        <pc:sldMkLst>
          <pc:docMk/>
          <pc:sldMk cId="0" sldId="26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027869332" sldId="27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225035349" sldId="28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79819931" sldId="28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94277211" sldId="2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894897432" sldId="2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083618775" sldId="2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831505793" sldId="2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147883940" sldId="2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929223683" sldId="2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4364869" sldId="2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93804965" sldId="2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053078876" sldId="29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067589673" sldId="29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3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222172671" sldId="305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147692581" sldId="306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453307536" sldId="307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3726883340" sldId="308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877144264" sldId="309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002936326" sldId="31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CD11030C-D4AC-4F37-A72F-13B7307DA009}" dt="2023-10-30T03:21:43.693" v="1" actId="47"/>
        <pc:sldMkLst>
          <pc:docMk/>
          <pc:sldMk cId="3591373730" sldId="31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37824831" sldId="32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28312682" sldId="32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64497266" sldId="33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81059157" sldId="3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732822587" sldId="3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800784675" sldId="3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509633848" sldId="3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28493372" sldId="3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43501658" sldId="3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253409991" sldId="3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6"/>
        </pc:sldMkLst>
      </pc:sldChg>
    </pc:docChg>
  </pc:docChgLst>
  <pc:docChgLst>
    <pc:chgData name="Zailan Arabee Abdul Salam" userId="5bc04053-34d1-46af-a9d4-ff754460ad4b" providerId="ADAL" clId="{15765617-B2B5-4B1C-9860-B69577C533DF}"/>
    <pc:docChg chg="addSld delSld modSld modSection">
      <pc:chgData name="Zailan Arabee Abdul Salam" userId="5bc04053-34d1-46af-a9d4-ff754460ad4b" providerId="ADAL" clId="{15765617-B2B5-4B1C-9860-B69577C533DF}" dt="2023-10-30T03:27:37.020" v="2" actId="47"/>
      <pc:docMkLst>
        <pc:docMk/>
      </pc:docMkLst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6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6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027869332" sldId="27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25035349" sldId="28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979819931" sldId="28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994277211" sldId="28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894897432" sldId="28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83618775" sldId="28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831505793" sldId="28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147883940" sldId="28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929223683" sldId="29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4364869" sldId="29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93804965" sldId="29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053078876" sldId="29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763272302" sldId="34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6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0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1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2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3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4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6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0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1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2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3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4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31145266" sldId="49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142129247" sldId="49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780427012" sldId="49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959013417" sldId="49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71056352" sldId="49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399879192" sldId="49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660146254" sldId="5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056397220" sldId="5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738791202" sldId="53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145607291" sldId="53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6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8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57055625" sldId="120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20312096" sldId="120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942685393" sldId="120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88058532" sldId="121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240314709" sldId="121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226352155" sldId="121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51448939" sldId="121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57944733" sldId="121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339351395" sldId="121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22543335" sldId="121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74055479" sldId="121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43552459" sldId="122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58344780" sldId="122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93834506" sldId="122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777901036" sldId="122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64643366" sldId="122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367724023" sldId="122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936123331" sldId="122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00039276" sldId="122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158129888" sldId="122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83043137" sldId="123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745391551" sldId="12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536754208" sldId="12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81593252" sldId="123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74274139" sldId="123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60256601" sldId="1238"/>
        </pc:sldMkLst>
      </pc:sldChg>
      <pc:sldChg chg="del">
        <pc:chgData name="Zailan Arabee Abdul Salam" userId="5bc04053-34d1-46af-a9d4-ff754460ad4b" providerId="ADAL" clId="{15765617-B2B5-4B1C-9860-B69577C533DF}" dt="2023-10-30T03:27:26.827" v="1" actId="47"/>
        <pc:sldMkLst>
          <pc:docMk/>
          <pc:sldMk cId="0" sldId="193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3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421019088" sldId="193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3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13217203" sldId="193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36985544" sldId="194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13316994" sldId="194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845779338" sldId="194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33749879" sldId="194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196535212" sldId="194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672633410" sldId="194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874458156" sldId="194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47"/>
        </pc:sldMkLst>
      </pc:sldChg>
      <pc:sldMasterChg chg="delSldLayout">
        <pc:chgData name="Zailan Arabee Abdul Salam" userId="5bc04053-34d1-46af-a9d4-ff754460ad4b" providerId="ADAL" clId="{15765617-B2B5-4B1C-9860-B69577C533DF}" dt="2023-10-30T03:27:37.020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15765617-B2B5-4B1C-9860-B69577C533DF}" dt="2023-10-30T03:27:37.020" v="2" actId="47"/>
          <pc:sldLayoutMkLst>
            <pc:docMk/>
            <pc:sldMasterMk cId="0" sldId="2147483651"/>
            <pc:sldLayoutMk cId="3394914884" sldId="2147483765"/>
          </pc:sldLayoutMkLst>
        </pc:sldLayoutChg>
        <pc:sldLayoutChg chg="del">
          <pc:chgData name="Zailan Arabee Abdul Salam" userId="5bc04053-34d1-46af-a9d4-ff754460ad4b" providerId="ADAL" clId="{15765617-B2B5-4B1C-9860-B69577C533DF}" dt="2023-10-30T03:27:37.020" v="2" actId="47"/>
          <pc:sldLayoutMkLst>
            <pc:docMk/>
            <pc:sldMasterMk cId="0" sldId="2147483651"/>
            <pc:sldLayoutMk cId="3057104794" sldId="2147483766"/>
          </pc:sldLayoutMkLst>
        </pc:sldLayoutChg>
      </pc:sldMasterChg>
    </pc:docChg>
  </pc:docChgLst>
  <pc:docChgLst>
    <pc:chgData name="Zailan Arabee Abdul Salam" userId="5bc04053-34d1-46af-a9d4-ff754460ad4b" providerId="ADAL" clId="{4FF8285E-39F7-4C24-A91D-468700658EB6}"/>
    <pc:docChg chg="addSld delSld modSld modSection">
      <pc:chgData name="Zailan Arabee Abdul Salam" userId="5bc04053-34d1-46af-a9d4-ff754460ad4b" providerId="ADAL" clId="{4FF8285E-39F7-4C24-A91D-468700658EB6}" dt="2023-10-30T03:29:31.809" v="2" actId="47"/>
      <pc:docMkLst>
        <pc:docMk/>
      </pc:docMkLst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4"/>
        </pc:sldMkLst>
      </pc:sldChg>
      <pc:sldChg chg="del">
        <pc:chgData name="Zailan Arabee Abdul Salam" userId="5bc04053-34d1-46af-a9d4-ff754460ad4b" providerId="ADAL" clId="{4FF8285E-39F7-4C24-A91D-468700658EB6}" dt="2023-10-30T03:29:21.926" v="1" actId="47"/>
        <pc:sldMkLst>
          <pc:docMk/>
          <pc:sldMk cId="0" sldId="405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9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1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2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3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4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5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9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1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2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3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4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2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3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70"/>
        </pc:sldMkLst>
      </pc:sldChg>
      <pc:sldMasterChg chg="delSldLayout">
        <pc:chgData name="Zailan Arabee Abdul Salam" userId="5bc04053-34d1-46af-a9d4-ff754460ad4b" providerId="ADAL" clId="{4FF8285E-39F7-4C24-A91D-468700658EB6}" dt="2023-10-30T03:29:31.809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4FF8285E-39F7-4C24-A91D-468700658EB6}" dt="2023-10-30T03:29:31.809" v="2" actId="47"/>
          <pc:sldLayoutMkLst>
            <pc:docMk/>
            <pc:sldMasterMk cId="0" sldId="2147483651"/>
            <pc:sldLayoutMk cId="1623527397" sldId="214748376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49070EE-C82E-4712-9482-BF6E1DD5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D487366-4551-4F28-99B1-81AD1228B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86E475D1-956D-4241-BC4E-9F6EE7870B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A370D08D-A620-49EB-9CD6-1314346BE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BE94BB0-8407-49AC-9382-388E215A9A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FE703EE-587E-4E54-A11A-F3FCDEBC7D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8C9A619-D31C-4C3A-9E17-053037AE0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858BF13-AD24-49B5-9F28-07291D889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0136005-30A5-4757-992E-6D77867DF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FD8200C-A6E8-4254-8B12-C786F7565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FA2A306-C1FD-4F00-82F1-09F6880EA3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01B46C5-F55A-472B-B3E9-441FDFED4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1A06A69-B9C7-460E-A03A-B38F51F47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B95B014-BDE3-447B-9C2A-ECF506B5D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F12AD50-D01D-4ED2-B327-4992BB2E8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A328B27-DCD6-4397-A46D-2BACC0E9F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0C47905-DFB4-467D-A168-3AE0B84EF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A6602F7-BFC5-4558-92E5-C3A56F220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2BFAC28-3ADA-4A4A-B079-F25105AF8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B19C062-DCCA-495A-87CF-8C4ED3103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BFB0AE0-B5E1-4FAC-A25B-DCF155251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CEAF893-B1B8-4284-8DB3-A33A2677C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9D7592F-0307-48F4-B65A-3A6C009BB1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AC693A7-3B7A-4148-9FA7-386A70032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496C586-7F4C-4C42-8157-2E5CA86A10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4721AE8-9293-4E74-9F05-36DFFBE10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55465F1-4C3A-42B1-8147-0D0D7B14B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638EAE1-4889-4047-A271-2B8A72436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66F0749-7F81-4D15-952D-46CEA07F6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863" y="733425"/>
            <a:ext cx="6518275" cy="3667125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5C0FC65-B577-460B-9494-30253C667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4924D97-F49C-4563-BEA6-12C129C51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863" y="733425"/>
            <a:ext cx="6518275" cy="3667125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ED6F951-576F-4ED6-A5EC-1CEB945A7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42589AE-BD91-4899-8BF3-F36DBFDCD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9CA683C-EDD7-4C62-8C81-89F0F9754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1196A096-EA0D-4DA8-89E0-D7DC5C161F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B94D08E6-A7F1-485F-AF5A-0B9CC589A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37EE9CDE-6D61-455F-A95C-0EABB3E36A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863" y="733425"/>
            <a:ext cx="6518275" cy="3667125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AD76966B-F463-489F-8D70-E77077ABE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258B3EB3-FE79-4C2D-B803-45A9879479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E6404A6E-11DA-4C6D-B341-5F62F6809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6E8AAF51-A2DA-429C-8DFA-9B6D886FE8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FF504D0-7926-43D3-8805-62573A863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EEEBE89-1D39-44A6-AB8E-D0013B0945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24A1290-E4F5-4A15-B31F-4381B7F20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067D2B7-E9E9-499C-8BA7-759373C454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9E66EC-453E-4399-B156-B78FE84FA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F85C00F-96E4-498E-A2BD-C38A58C91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15119832-FF01-46CC-9146-15FB2C476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4278E87B-D813-4CE4-9251-DE9C373D9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850900"/>
            <a:ext cx="6096000" cy="3430588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FEF2295-504A-4F03-8C3F-3D7ED6A42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4437063"/>
            <a:ext cx="5489575" cy="46069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873EDBC-CCF1-4AA3-A810-DB0232DC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863" y="733425"/>
            <a:ext cx="6518275" cy="3667125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99CEDA9-0590-4F46-85FD-3421B195B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149BAE5-59F4-4DC1-A16F-8E778355FE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863" y="733425"/>
            <a:ext cx="6518275" cy="3667125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5F0295D-E6BA-422F-835A-35013C977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homes.doc.ic.ac.uk/~jnm/book/book_applets/SingleLaneBridge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FD74FFB-BCA7-4DB4-818D-C0CDA92479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33925" y="3724275"/>
            <a:ext cx="5695950" cy="781050"/>
          </a:xfrm>
          <a:noFill/>
        </p:spPr>
        <p:txBody>
          <a:bodyPr/>
          <a:lstStyle/>
          <a:p>
            <a:pPr algn="r" eaLnBrk="1" hangingPunct="1"/>
            <a:r>
              <a:rPr lang="en-US" altLang="en-US" b="1"/>
              <a:t>Safety and Liveness Properties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A0E4929-A587-487D-86C7-92BF6C83A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2241551"/>
            <a:ext cx="6754812" cy="8921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800" kern="0" dirty="0">
                <a:solidFill>
                  <a:schemeClr val="bg1"/>
                </a:solidFill>
              </a:rPr>
              <a:t>Concurrent Programming</a:t>
            </a:r>
            <a:br>
              <a:rPr lang="en-US" sz="3800" kern="0" dirty="0">
                <a:solidFill>
                  <a:schemeClr val="bg1"/>
                </a:solidFill>
              </a:rPr>
            </a:br>
            <a:r>
              <a:rPr lang="en-US" sz="1400" kern="0" dirty="0">
                <a:solidFill>
                  <a:schemeClr val="bg1"/>
                </a:solidFill>
              </a:rPr>
              <a:t>CT074-3-2 Version 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FCFB-E76A-4F36-991A-3D5CEED8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CCP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09610-32EE-454C-A6B5-78E2076A2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</a:t>
            </a:r>
          </a:p>
          <a:p>
            <a:pPr lvl="1"/>
            <a:r>
              <a:rPr lang="en-US" dirty="0"/>
              <a:t>Paragraphs narrating what needs to happen and assumptions (if any)</a:t>
            </a:r>
          </a:p>
          <a:p>
            <a:pPr lvl="1"/>
            <a:r>
              <a:rPr lang="en-US" dirty="0"/>
              <a:t>How it was implemented (Java concurrency method/API)</a:t>
            </a:r>
          </a:p>
          <a:p>
            <a:pPr lvl="1"/>
            <a:r>
              <a:rPr lang="en-US" dirty="0"/>
              <a:t>Discussion (If relevant)</a:t>
            </a:r>
          </a:p>
          <a:p>
            <a:pPr lvl="2"/>
            <a:r>
              <a:rPr lang="en-US" dirty="0"/>
              <a:t>Potential deadlock (any conditions present)</a:t>
            </a:r>
          </a:p>
          <a:p>
            <a:pPr lvl="2"/>
            <a:r>
              <a:rPr lang="en-US" dirty="0"/>
              <a:t>Mutually exclusive </a:t>
            </a:r>
          </a:p>
        </p:txBody>
      </p:sp>
    </p:spTree>
    <p:extLst>
      <p:ext uri="{BB962C8B-B14F-4D97-AF65-F5344CB8AC3E}">
        <p14:creationId xmlns:p14="http://schemas.microsoft.com/office/powerpoint/2010/main" val="264792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EAF2-BFB2-4222-9DCD-03C8133F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CCP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3748-E183-4A04-91B1-1188B0D4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</a:t>
            </a:r>
          </a:p>
          <a:p>
            <a:pPr lvl="1"/>
            <a:r>
              <a:rPr lang="en-US" dirty="0"/>
              <a:t>Implement and code salon simulation</a:t>
            </a:r>
          </a:p>
          <a:p>
            <a:pPr lvl="1"/>
            <a:r>
              <a:rPr lang="en-US" dirty="0"/>
              <a:t>One Submission link</a:t>
            </a:r>
          </a:p>
          <a:p>
            <a:pPr lvl="2"/>
            <a:r>
              <a:rPr lang="en-US" dirty="0"/>
              <a:t>2 Files in zip file</a:t>
            </a:r>
          </a:p>
          <a:p>
            <a:pPr lvl="3"/>
            <a:r>
              <a:rPr lang="en-US" dirty="0"/>
              <a:t>Code and Presentation (zip file) – Will not be submitted to Turnitin</a:t>
            </a:r>
          </a:p>
          <a:p>
            <a:pPr marL="1371600" lvl="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9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62D0-FC65-102D-0943-C454914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Requirements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6115-4020-A117-780A-B02424C0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These events should happen concurrently: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Passengers buying tickets from the 3 sources.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Each event should take some time.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As there is only 1 ticket inspector, this event should happen exclusively: </a:t>
            </a:r>
          </a:p>
          <a:p>
            <a:pPr lvl="1"/>
            <a:r>
              <a:rPr lang="en-MY" sz="1400" dirty="0">
                <a:solidFill>
                  <a:srgbClr val="000000"/>
                </a:solidFill>
                <a:latin typeface="Calibri" panose="020F0502020204030204" pitchFamily="34" charset="0"/>
              </a:rPr>
              <a:t> checking of passenger tickets in each waiting room</a:t>
            </a: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78818-E340-4B92-AEC4-06892FB2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763" y="153988"/>
            <a:ext cx="8229600" cy="4525962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4 assign to hairdresser 1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Hairdresser 1 checking if comb 1 is available -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</a:rPr>
              <a:t>true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13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13 assign to hairdresser 2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Hairdresser 2 checking if comb 1 is available - false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 assign to hairdresser 3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Hairdresser 3 checking if comb 1 is available - false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3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10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8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Customer 12 is sitting on waiting chair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Hairdresser 1 checking if scissor 1 is available -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</a:rPr>
              <a:t>true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Hairdresser 1 acquired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</a:rPr>
              <a:t>comb 1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</a:rPr>
              <a:t>scissor 1</a:t>
            </a: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marL="457200" lvl="1" indent="0">
              <a:buNone/>
            </a:pPr>
            <a:endParaRPr lang="en-MY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2896788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62D0-FC65-102D-0943-C454914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Requirements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6115-4020-A117-780A-B02424C0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These events should happen concurrently: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Passengers disembarking/embarking from the 3 gates.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Refill supplies and cleaning of aircraft </a:t>
            </a:r>
          </a:p>
          <a:p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As there is only 1 refueling truck, this event should happen exclusively: </a:t>
            </a:r>
          </a:p>
          <a:p>
            <a:pPr lvl="1"/>
            <a:r>
              <a:rPr lang="en-MY" sz="1400" dirty="0">
                <a:solidFill>
                  <a:srgbClr val="000000"/>
                </a:solidFill>
                <a:latin typeface="Calibri" panose="020F0502020204030204" pitchFamily="34" charset="0"/>
              </a:rPr>
              <a:t> Refuelling of aircraft </a:t>
            </a: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endParaRPr lang="en-MY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0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78818-E340-4B92-AEC4-06892FB2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763" y="153988"/>
            <a:ext cx="8229600" cy="4525962"/>
          </a:xfrm>
        </p:spPr>
        <p:txBody>
          <a:bodyPr/>
          <a:lstStyle/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1 disembarking from Plane 1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2 disembarking from Plane 1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1 disembarking from Plane 2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Fuel truck refilling fuel for Plane 1 – 0%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 50 boarding Bus 1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All passengers boarded Bus 1!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 54 boarding Bus 2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 55 boarding Bus 3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 56 boarding Bus 2</a:t>
            </a: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Passenger  57 boarding Bus 3</a:t>
            </a:r>
          </a:p>
          <a:p>
            <a:pPr marL="457200" lvl="1" indent="0">
              <a:buNone/>
            </a:pPr>
            <a:endParaRPr lang="en-MY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 marL="457200" lvl="1" indent="0">
              <a:buNone/>
            </a:pPr>
            <a:endParaRPr lang="en-MY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110439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E0117959-AF1F-4674-8B3D-AA692008CAA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111375" y="346095"/>
            <a:ext cx="5846472" cy="553998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Topic &amp; Structure of The Lesson</a:t>
            </a:r>
            <a:endParaRPr lang="en-US" altLang="zh-TW" u="sng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新細明體" pitchFamily="18" charset="-12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D8785CA-EF50-4977-9C74-F94C5EE8F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3588" y="1697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Safety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C1E34E06-EC5E-4318-86C9-C8F26A70C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0"/>
            <a:ext cx="399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/>
              <a:t>Learning Outcomes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37F8F60-F3C1-43F4-906D-2202904AC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19389"/>
            <a:ext cx="8545513" cy="20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914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tabLst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14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   At the end of this module, you should be able to do the following: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/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b="1"/>
              <a:t>Identify safety issues in threads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8DC3-1EB4-4FB4-87CA-7C838E8C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Key Terms You Must Be Able To Use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123D675-657A-4579-BE63-CBDCD47A6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>
                <a:latin typeface="Century Gothic" panose="020B0502020202020204" pitchFamily="34" charset="0"/>
              </a:rPr>
              <a:t>If you have mastered this topic, </a:t>
            </a:r>
            <a:r>
              <a:rPr lang="en-US" altLang="en-US" sz="2000" b="1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assignments and exams</a:t>
            </a:r>
            <a:r>
              <a:rPr lang="en-US" altLang="en-US" sz="2000" b="1">
                <a:latin typeface="Century Gothic" panose="020B0502020202020204" pitchFamily="34" charset="0"/>
              </a:rPr>
              <a:t>:</a:t>
            </a:r>
          </a:p>
          <a:p>
            <a:pPr eaLnBrk="1" hangingPunct="1"/>
            <a:r>
              <a:rPr lang="en-US" altLang="en-US"/>
              <a:t>Safety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25658BED-B52A-48F2-B658-A5E3B417B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6150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/>
              <a:t>Safety &amp; Liveness properties</a:t>
            </a:r>
          </a:p>
        </p:txBody>
      </p:sp>
      <p:sp>
        <p:nvSpPr>
          <p:cNvPr id="25603" name="Rectangle 8">
            <a:extLst>
              <a:ext uri="{FF2B5EF4-FFF2-40B4-BE49-F238E27FC236}">
                <a16:creationId xmlns:a16="http://schemas.microsoft.com/office/drawing/2014/main" id="{590F0A6C-14C9-4EC3-8573-D5D2AE4410B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8721F11-4076-4B76-A178-A523953F0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0" y="1371601"/>
            <a:ext cx="7793038" cy="500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C84A63C1-4EEE-4972-8687-B4A355E88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4" y="1539876"/>
            <a:ext cx="7596187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Concepts</a:t>
            </a:r>
            <a:r>
              <a:rPr lang="en-GB" altLang="en-US" sz="2400">
                <a:latin typeface="Comic Sans MS" panose="030F0702030302020204" pitchFamily="66" charset="0"/>
              </a:rPr>
              <a:t>: 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properties</a:t>
            </a:r>
            <a:r>
              <a:rPr lang="en-GB" altLang="en-US" sz="2400">
                <a:latin typeface="Comic Sans MS" panose="030F0702030302020204" pitchFamily="66" charset="0"/>
              </a:rPr>
              <a:t>: true for every possible 			execution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safety</a:t>
            </a:r>
            <a:r>
              <a:rPr lang="en-GB" altLang="en-US" sz="2400">
                <a:latin typeface="Comic Sans MS" panose="030F0702030302020204" pitchFamily="66" charset="0"/>
              </a:rPr>
              <a:t>: nothing bad happens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liveness</a:t>
            </a:r>
            <a:r>
              <a:rPr lang="en-GB" altLang="en-US" sz="2400">
                <a:latin typeface="Comic Sans MS" panose="030F0702030302020204" pitchFamily="66" charset="0"/>
              </a:rPr>
              <a:t>: something good </a:t>
            </a:r>
            <a:r>
              <a:rPr lang="en-GB" altLang="en-US" sz="2400" i="1">
                <a:solidFill>
                  <a:srgbClr val="CC0000"/>
                </a:solidFill>
                <a:latin typeface="Comic Sans MS" panose="030F0702030302020204" pitchFamily="66" charset="0"/>
              </a:rPr>
              <a:t>eventually</a:t>
            </a:r>
            <a:r>
              <a:rPr lang="en-GB" altLang="en-US" sz="2400">
                <a:latin typeface="Comic Sans MS" panose="030F0702030302020204" pitchFamily="66" charset="0"/>
              </a:rPr>
              <a:t> 			happens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  	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4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Practice</a:t>
            </a:r>
            <a:r>
              <a:rPr lang="en-GB" altLang="en-US" sz="2400">
                <a:latin typeface="Comic Sans MS" panose="030F0702030302020204" pitchFamily="66" charset="0"/>
              </a:rPr>
              <a:t>:   threads and monitors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3425EAE-BB19-4C92-A6A0-ADC18BF72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7ECAB932-9E65-4A96-BC86-04B4F49E7A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Safety</a:t>
            </a:r>
            <a:r>
              <a:rPr lang="en-US" altLang="en-US" dirty="0"/>
              <a:t>: nothing bad will happen. For example, access to a shared resource like a printer requires that the user process have exclusive access to the resource. </a:t>
            </a:r>
          </a:p>
          <a:p>
            <a:pPr eaLnBrk="1" hangingPunct="1"/>
            <a:r>
              <a:rPr lang="en-US" altLang="en-US" dirty="0"/>
              <a:t>So, there must be a mechanism to provide </a:t>
            </a:r>
            <a:r>
              <a:rPr lang="en-US" altLang="en-US" i="1" dirty="0"/>
              <a:t>mutual exclusion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2B2CD2F-C07F-4FFC-86A1-815E227FF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The Dining Philosophers.</a:t>
            </a:r>
            <a:endParaRPr lang="en-US" alt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4091966-D38E-4C2C-999E-AA26A79C7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(Models exclusive access to limited resources) N philosophers spend their lives seated around a circular table thinking and eating. Each philosopher has a plate of spaghetti and, on each side, shares a fork his/her neighbor. To eat, a philosopher must first acquire the forks to its immediate left and right. After eating, a philosopher places the forks back on the table. The problem is to write a program that lets each philosopher eat and think.</a:t>
            </a:r>
          </a:p>
          <a:p>
            <a:pPr eaLnBrk="1" hangingPunct="1"/>
            <a:r>
              <a:rPr lang="en-US" altLang="en-US" sz="2400"/>
              <a:t>The philosophers correspond to processes and the forks correspond to resources.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C5DEAF8-2189-4F9A-9B47-03E41DE30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EDC3AFE-D8E6-447F-9050-F947046310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safety property for this problem is that a fork is held by one and only one philosopher at a time. A desirable liveness property is that whenever a philosopher wants to eat, eventually the philosopher will get to eat.</a:t>
            </a:r>
          </a:p>
          <a:p>
            <a:pPr lvl="1" eaLnBrk="1" hangingPunct="1"/>
            <a:r>
              <a:rPr lang="en-US" altLang="en-US"/>
              <a:t>Solve the dining philosophers problem using a central fork manager (centralized).</a:t>
            </a:r>
          </a:p>
          <a:p>
            <a:pPr lvl="1" eaLnBrk="1" hangingPunct="1"/>
            <a:r>
              <a:rPr lang="en-US" altLang="en-US"/>
              <a:t>Solve the dining philosophers problem where there is a manager for each fork(distributed).</a:t>
            </a:r>
          </a:p>
          <a:p>
            <a:pPr lvl="1" eaLnBrk="1" hangingPunct="1"/>
            <a:r>
              <a:rPr lang="en-US" altLang="en-US"/>
              <a:t>Solve the dining philosophers problem where the philosophers handle their own forks (decentralized).</a:t>
            </a:r>
          </a:p>
          <a:p>
            <a:pPr lvl="1" eaLnBrk="1" hangingPunct="1"/>
            <a:r>
              <a:rPr lang="en-US" altLang="en-US"/>
              <a:t>Solve the dining philosophers problem if the philosophers must acquire all the forks in order to eat (distributed mutual exclusion).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5A0B2B4-65D8-4C12-8724-42C534654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731838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problem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:a16="http://schemas.microsoft.com/office/drawing/2014/main" id="{85E2D1FA-DAA1-4509-AA6A-02CC54F386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FDDFD47-4750-4567-9CF4-E9695EE84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236789"/>
            <a:ext cx="83010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At the moment, we are only concerned primarily with the safety properties of the problem. We will look at liveness in the next lecture.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E0A77BB-82E2-4442-A88F-432F064D5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731838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problem</a:t>
            </a:r>
          </a:p>
        </p:txBody>
      </p:sp>
      <p:sp>
        <p:nvSpPr>
          <p:cNvPr id="32771" name="Rectangle 8">
            <a:extLst>
              <a:ext uri="{FF2B5EF4-FFF2-40B4-BE49-F238E27FC236}">
                <a16:creationId xmlns:a16="http://schemas.microsoft.com/office/drawing/2014/main" id="{90E00B2E-650D-4FA3-B294-769256C5AF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3087ADA-0102-47B1-9F3C-F210C871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4503739"/>
            <a:ext cx="8301038" cy="193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A bridge over a river is only wide enough to permit a single lane of traffic. Consequently, cars can only move concurrently if they are moving in the </a:t>
            </a: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same direction</a:t>
            </a:r>
            <a:r>
              <a:rPr lang="en-GB" altLang="en-US" sz="2400">
                <a:latin typeface="Comic Sans MS" panose="030F0702030302020204" pitchFamily="66" charset="0"/>
              </a:rPr>
              <a:t>. A safety violation occurs if two cars moving in different directions enter the bridge at the same time.</a:t>
            </a:r>
          </a:p>
        </p:txBody>
      </p:sp>
      <p:pic>
        <p:nvPicPr>
          <p:cNvPr id="32773" name="Picture 4" descr="figure7-4">
            <a:extLst>
              <a:ext uri="{FF2B5EF4-FFF2-40B4-BE49-F238E27FC236}">
                <a16:creationId xmlns:a16="http://schemas.microsoft.com/office/drawing/2014/main" id="{BE6F8319-198D-4A1B-87A7-461FE5A99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300" y="790575"/>
            <a:ext cx="72453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AutoShape 5">
            <a:hlinkClick r:id="rId4" highlightClick="1"/>
            <a:extLst>
              <a:ext uri="{FF2B5EF4-FFF2-40B4-BE49-F238E27FC236}">
                <a16:creationId xmlns:a16="http://schemas.microsoft.com/office/drawing/2014/main" id="{8907888E-CBC9-4EBF-9053-12FFE8459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0" y="5676900"/>
            <a:ext cx="857250" cy="933450"/>
          </a:xfrm>
          <a:prstGeom prst="actionButtonInformation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8908CD8-11C6-4986-84D9-A5041F43C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74295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model</a:t>
            </a:r>
          </a:p>
        </p:txBody>
      </p:sp>
      <p:sp>
        <p:nvSpPr>
          <p:cNvPr id="34819" name="Rectangle 8">
            <a:extLst>
              <a:ext uri="{FF2B5EF4-FFF2-40B4-BE49-F238E27FC236}">
                <a16:creationId xmlns:a16="http://schemas.microsoft.com/office/drawing/2014/main" id="{1E094388-FD87-4CC3-9C38-9B001589EB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00EF0CCF-1FDD-4C6F-911F-43F4E4B7B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252539"/>
            <a:ext cx="7807325" cy="390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>
                <a:latin typeface="Comic Sans MS" panose="030F0702030302020204" pitchFamily="66" charset="0"/>
              </a:rPr>
              <a:t> Events or actions of interest?</a:t>
            </a:r>
          </a:p>
          <a:p>
            <a:pPr lvl="1"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enter and exit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>
                <a:latin typeface="Comic Sans MS" panose="030F0702030302020204" pitchFamily="66" charset="0"/>
              </a:rPr>
              <a:t> Identify processes.</a:t>
            </a:r>
          </a:p>
          <a:p>
            <a:pPr lvl="1"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cars and bridge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>
                <a:latin typeface="Comic Sans MS" panose="030F0702030302020204" pitchFamily="66" charset="0"/>
              </a:rPr>
              <a:t> Identify properties.</a:t>
            </a:r>
          </a:p>
          <a:p>
            <a:pPr lvl="2"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>
                <a:latin typeface="Comic Sans MS" panose="030F0702030302020204" pitchFamily="66" charset="0"/>
              </a:rPr>
              <a:t>	oneway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>
                <a:latin typeface="Comic Sans MS" panose="030F0702030302020204" pitchFamily="66" charset="0"/>
              </a:rPr>
              <a:t> Define each process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and interactions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(structure).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8A4C7C1-F757-445B-A494-20A91C8B6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</a:t>
            </a:r>
            <a:r>
              <a:rPr lang="en-GB" altLang="en-US" b="1">
                <a:latin typeface="Courier New" panose="02070309020205020404" pitchFamily="49" charset="0"/>
              </a:rPr>
              <a:t>BRIDGE</a:t>
            </a:r>
            <a:r>
              <a:rPr lang="en-GB" altLang="en-US" b="1"/>
              <a:t> model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:a16="http://schemas.microsoft.com/office/drawing/2014/main" id="{6A6A68EB-3C0C-4FF5-A272-6BAAD60C0E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BCC2610B-896D-4B3F-BC15-C1B1AA4D1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814" y="2438400"/>
            <a:ext cx="71707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Cars can move concurrently on the bridge only if in the </a:t>
            </a:r>
            <a:r>
              <a:rPr lang="en-GB" altLang="en-US" b="1">
                <a:solidFill>
                  <a:srgbClr val="CC3300"/>
                </a:solidFill>
                <a:latin typeface="Comic Sans MS" panose="030F0702030302020204" pitchFamily="66" charset="0"/>
              </a:rPr>
              <a:t>same direction</a:t>
            </a:r>
            <a:r>
              <a:rPr lang="en-GB" altLang="en-US" b="1">
                <a:latin typeface="Comic Sans MS" panose="030F0702030302020204" pitchFamily="66" charset="0"/>
              </a:rPr>
              <a:t>. The bridge maintains counts of </a:t>
            </a:r>
            <a:r>
              <a:rPr lang="en-GB" altLang="en-US" b="1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b="1">
                <a:latin typeface="Comic Sans MS" panose="030F0702030302020204" pitchFamily="66" charset="0"/>
              </a:rPr>
              <a:t> and </a:t>
            </a:r>
            <a:r>
              <a:rPr lang="en-GB" altLang="en-US" b="1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b="1">
                <a:latin typeface="Comic Sans MS" panose="030F0702030302020204" pitchFamily="66" charset="0"/>
              </a:rPr>
              <a:t> cars on the bridge. </a:t>
            </a:r>
            <a:r>
              <a:rPr lang="en-GB" altLang="en-US" b="1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b="1">
                <a:latin typeface="Comic Sans MS" panose="030F0702030302020204" pitchFamily="66" charset="0"/>
              </a:rPr>
              <a:t> cars are only allowed to enter when the </a:t>
            </a:r>
            <a:r>
              <a:rPr lang="en-GB" altLang="en-US" b="1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b="1">
                <a:latin typeface="Comic Sans MS" panose="030F0702030302020204" pitchFamily="66" charset="0"/>
              </a:rPr>
              <a:t> count is zero and vice-versa.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9441087-0D05-4FDF-94D7-C61A5528D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safety property </a:t>
            </a:r>
            <a:r>
              <a:rPr lang="en-GB" altLang="en-US" b="1">
                <a:latin typeface="Courier New" panose="02070309020205020404" pitchFamily="49" charset="0"/>
              </a:rPr>
              <a:t>ONEWAY</a:t>
            </a:r>
            <a:endParaRPr lang="en-GB" altLang="en-US" b="1"/>
          </a:p>
        </p:txBody>
      </p:sp>
      <p:sp>
        <p:nvSpPr>
          <p:cNvPr id="38915" name="Rectangle 8">
            <a:extLst>
              <a:ext uri="{FF2B5EF4-FFF2-40B4-BE49-F238E27FC236}">
                <a16:creationId xmlns:a16="http://schemas.microsoft.com/office/drawing/2014/main" id="{29C8247A-2240-470B-9639-040BD3B3CF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8916" name="Text Box 5">
            <a:extLst>
              <a:ext uri="{FF2B5EF4-FFF2-40B4-BE49-F238E27FC236}">
                <a16:creationId xmlns:a16="http://schemas.microsoft.com/office/drawing/2014/main" id="{6F295DEE-49AD-481F-958D-E016CC05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2686050"/>
            <a:ext cx="7196138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2800" dirty="0">
                <a:latin typeface="Comic Sans MS" panose="030F0702030302020204" pitchFamily="66" charset="0"/>
              </a:rPr>
              <a:t>We now specify a </a:t>
            </a:r>
            <a:r>
              <a:rPr lang="en-GB" altLang="en-US" sz="2800" b="1" dirty="0">
                <a:latin typeface="Comic Sans MS" panose="030F0702030302020204" pitchFamily="66" charset="0"/>
              </a:rPr>
              <a:t>safety</a:t>
            </a:r>
            <a:r>
              <a:rPr lang="en-GB" altLang="en-US" sz="2800" dirty="0">
                <a:latin typeface="Comic Sans MS" panose="030F0702030302020204" pitchFamily="66" charset="0"/>
              </a:rPr>
              <a:t> property to check that cars do not collide!</a:t>
            </a:r>
          </a:p>
          <a:p>
            <a:pPr algn="ctr"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800" dirty="0">
                <a:latin typeface="Comic Sans MS" panose="030F0702030302020204" pitchFamily="66" charset="0"/>
              </a:rPr>
              <a:t>While </a:t>
            </a:r>
            <a:r>
              <a:rPr lang="en-GB" altLang="en-US" sz="2800" dirty="0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sz="2800" dirty="0">
                <a:latin typeface="Comic Sans MS" panose="030F0702030302020204" pitchFamily="66" charset="0"/>
              </a:rPr>
              <a:t> cars are on the bridge only </a:t>
            </a:r>
            <a:r>
              <a:rPr lang="en-GB" altLang="en-US" sz="2800" dirty="0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sz="2800" dirty="0">
                <a:latin typeface="Comic Sans MS" panose="030F0702030302020204" pitchFamily="66" charset="0"/>
              </a:rPr>
              <a:t> cars can enter; similarly for </a:t>
            </a:r>
            <a:r>
              <a:rPr lang="en-GB" altLang="en-US" sz="2800" dirty="0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sz="2800" dirty="0">
                <a:latin typeface="Comic Sans MS" panose="030F0702030302020204" pitchFamily="66" charset="0"/>
              </a:rPr>
              <a:t> cars. When the bridge is empty, either a </a:t>
            </a:r>
            <a:r>
              <a:rPr lang="en-GB" altLang="en-US" sz="2800" dirty="0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sz="2800" dirty="0">
                <a:latin typeface="Comic Sans MS" panose="030F0702030302020204" pitchFamily="66" charset="0"/>
              </a:rPr>
              <a:t> or a </a:t>
            </a:r>
            <a:r>
              <a:rPr lang="en-GB" altLang="en-US" sz="2800" dirty="0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sz="2800" dirty="0">
                <a:latin typeface="Comic Sans MS" panose="030F0702030302020204" pitchFamily="66" charset="0"/>
              </a:rPr>
              <a:t> car may enter.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438F94A-8225-4873-B070-56D18B3E2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26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implementation in Java</a:t>
            </a:r>
          </a:p>
        </p:txBody>
      </p:sp>
      <p:sp>
        <p:nvSpPr>
          <p:cNvPr id="40963" name="Rectangle 8">
            <a:extLst>
              <a:ext uri="{FF2B5EF4-FFF2-40B4-BE49-F238E27FC236}">
                <a16:creationId xmlns:a16="http://schemas.microsoft.com/office/drawing/2014/main" id="{2A317D24-EC14-44C2-8EDB-F9E4F28B8E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E024710-7462-410E-B8A8-5A8F4DE10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8" y="1295400"/>
            <a:ext cx="6894512" cy="4572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965" name="Text Box 4" descr="50%">
            <a:extLst>
              <a:ext uri="{FF2B5EF4-FFF2-40B4-BE49-F238E27FC236}">
                <a16:creationId xmlns:a16="http://schemas.microsoft.com/office/drawing/2014/main" id="{3DADE7D8-57B5-491F-818B-33598098A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1295401"/>
            <a:ext cx="2071688" cy="5262979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Active entities (cars) are implemented as threads.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Passive entity (bridge) is implemented as a monitor.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BridgeCanvas enforces no overtaking.</a:t>
            </a:r>
          </a:p>
        </p:txBody>
      </p:sp>
      <p:graphicFrame>
        <p:nvGraphicFramePr>
          <p:cNvPr id="40966" name="Object 5">
            <a:extLst>
              <a:ext uri="{FF2B5EF4-FFF2-40B4-BE49-F238E27FC236}">
                <a16:creationId xmlns:a16="http://schemas.microsoft.com/office/drawing/2014/main" id="{C0B0C8ED-0EF5-4778-8962-680795687D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4926" y="1295400"/>
          <a:ext cx="682307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4" imgW="3867483" imgH="2343386" progId="MSDraw.Drawing.8">
                  <p:embed/>
                </p:oleObj>
              </mc:Choice>
              <mc:Fallback>
                <p:oleObj name="Drawing" r:id="rId4" imgW="3867483" imgH="2343386" progId="MSDraw.Drawing.8">
                  <p:embed/>
                  <p:pic>
                    <p:nvPicPr>
                      <p:cNvPr id="40966" name="Object 5">
                        <a:extLst>
                          <a:ext uri="{FF2B5EF4-FFF2-40B4-BE49-F238E27FC236}">
                            <a16:creationId xmlns:a16="http://schemas.microsoft.com/office/drawing/2014/main" id="{C0B0C8ED-0EF5-4778-8962-680795687D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6" y="1295400"/>
                        <a:ext cx="682307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D92F6B6-1A3F-4949-A44E-7A7C81A11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</a:t>
            </a:r>
            <a:r>
              <a:rPr lang="en-GB" altLang="en-US" b="1">
                <a:latin typeface="Courier New" panose="02070309020205020404" pitchFamily="49" charset="0"/>
              </a:rPr>
              <a:t>BridgeCanvas</a:t>
            </a:r>
            <a:endParaRPr lang="en-GB" altLang="en-US" b="1"/>
          </a:p>
        </p:txBody>
      </p:sp>
      <p:sp>
        <p:nvSpPr>
          <p:cNvPr id="43011" name="Rectangle 8">
            <a:extLst>
              <a:ext uri="{FF2B5EF4-FFF2-40B4-BE49-F238E27FC236}">
                <a16:creationId xmlns:a16="http://schemas.microsoft.com/office/drawing/2014/main" id="{48B550CE-FC6B-4E8A-B909-26CA854BCC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58839BA-D6EC-4E27-AC1C-E697F6014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46325"/>
            <a:ext cx="8886825" cy="419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854FE85A-9074-4F3C-BE68-571828232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1047751"/>
            <a:ext cx="80629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An instance of </a:t>
            </a:r>
            <a:r>
              <a:rPr lang="en-GB" altLang="en-US" sz="2400" b="1">
                <a:latin typeface="Courier New" panose="02070309020205020404" pitchFamily="49" charset="0"/>
              </a:rPr>
              <a:t>BridgeCanvas</a:t>
            </a:r>
            <a:r>
              <a:rPr lang="en-GB" altLang="en-US" sz="2400">
                <a:latin typeface="Comic Sans MS" panose="030F0702030302020204" pitchFamily="66" charset="0"/>
              </a:rPr>
              <a:t> class is created by SingleLaneBridge applet - ref is passed to each newly created RedCar and BlueCar object. </a:t>
            </a:r>
          </a:p>
        </p:txBody>
      </p:sp>
      <p:sp>
        <p:nvSpPr>
          <p:cNvPr id="43014" name="Text Box 5">
            <a:extLst>
              <a:ext uri="{FF2B5EF4-FFF2-40B4-BE49-F238E27FC236}">
                <a16:creationId xmlns:a16="http://schemas.microsoft.com/office/drawing/2014/main" id="{AB2AB496-E27A-4143-989A-DB23DE497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371725"/>
            <a:ext cx="9144000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class</a:t>
            </a:r>
            <a:r>
              <a:rPr lang="en-US" altLang="en-US" sz="2000" b="1" noProof="1">
                <a:latin typeface="Calibri" panose="020F0502020204030204" pitchFamily="34" charset="0"/>
              </a:rPr>
              <a:t> BridgeCanvas </a:t>
            </a:r>
            <a:r>
              <a:rPr lang="en-US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extends</a:t>
            </a:r>
            <a:r>
              <a:rPr lang="en-US" altLang="en-US" sz="2000" b="1" noProof="1">
                <a:latin typeface="Calibri" panose="020F0502020204030204" pitchFamily="34" charset="0"/>
              </a:rPr>
              <a:t> Canvas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000" b="1" noProof="1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alibri" panose="020F0502020204030204" pitchFamily="34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public</a:t>
            </a:r>
            <a:r>
              <a:rPr lang="en-US" altLang="en-US" sz="2000" b="1" noProof="1">
                <a:latin typeface="Calibri" panose="020F0502020204030204" pitchFamily="34" charset="0"/>
              </a:rPr>
              <a:t> void init(int ncars) {…}   </a:t>
            </a:r>
            <a:r>
              <a:rPr lang="en-US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//set number of cars</a:t>
            </a:r>
            <a:endParaRPr lang="en-US" altLang="en-US" sz="2000" b="1" i="1" noProof="1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alibri" panose="020F0502020204030204" pitchFamily="34" charset="0"/>
              </a:rPr>
              <a:t>   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alibri" panose="020F0502020204030204" pitchFamily="34" charset="0"/>
              </a:rPr>
              <a:t>  </a:t>
            </a:r>
            <a:r>
              <a:rPr lang="en-US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//move red car with the identity</a:t>
            </a:r>
            <a:r>
              <a:rPr lang="en-US" altLang="en-US" sz="2000" b="1" noProof="1">
                <a:solidFill>
                  <a:srgbClr val="FF0000"/>
                </a:solidFill>
                <a:latin typeface="Calibri" panose="020F0502020204030204" pitchFamily="34" charset="0"/>
              </a:rPr>
              <a:t> i </a:t>
            </a:r>
            <a:r>
              <a:rPr lang="en-US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a step</a:t>
            </a:r>
            <a:endParaRPr lang="en-US" altLang="en-US" sz="2000" b="1" noProof="1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FF0000"/>
                </a:solidFill>
                <a:latin typeface="Calibri" panose="020F0502020204030204" pitchFamily="34" charset="0"/>
              </a:rPr>
              <a:t>  </a:t>
            </a:r>
            <a:r>
              <a:rPr lang="en-US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//returns true for the period on bridge</a:t>
            </a:r>
            <a:r>
              <a:rPr lang="en-GB" altLang="en-US" sz="2000" b="1" i="1">
                <a:solidFill>
                  <a:srgbClr val="FF0000"/>
                </a:solidFill>
                <a:latin typeface="Calibri" panose="020F0502020204030204" pitchFamily="34" charset="0"/>
              </a:rPr>
              <a:t>,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 from just before</a:t>
            </a:r>
            <a:r>
              <a:rPr lang="en-GB" altLang="en-US" sz="2000" b="1" i="1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until just after</a:t>
            </a:r>
            <a:endParaRPr lang="en-GB" altLang="en-US" sz="2000" b="1" noProof="1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</a:t>
            </a: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public</a:t>
            </a:r>
            <a:r>
              <a:rPr lang="en-GB" altLang="en-US" sz="2000" b="1" noProof="1">
                <a:latin typeface="Calibri" panose="020F0502020204030204" pitchFamily="34" charset="0"/>
              </a:rPr>
              <a:t> boolean moveRed(int i)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       </a:t>
            </a: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throws</a:t>
            </a:r>
            <a:r>
              <a:rPr lang="en-GB" altLang="en-US" sz="2000" b="1" noProof="1">
                <a:latin typeface="Calibri" panose="020F0502020204030204" pitchFamily="34" charset="0"/>
              </a:rPr>
              <a:t> InterruptedException{…}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//move blue car with the identity</a:t>
            </a:r>
            <a:r>
              <a:rPr lang="en-GB" altLang="en-US" sz="2000" b="1" noProof="1">
                <a:solidFill>
                  <a:srgbClr val="FF0000"/>
                </a:solidFill>
                <a:latin typeface="Calibri" panose="020F0502020204030204" pitchFamily="34" charset="0"/>
              </a:rPr>
              <a:t> i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a step</a:t>
            </a:r>
            <a:endParaRPr lang="en-GB" altLang="en-US" sz="2000" b="1" noProof="1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solidFill>
                  <a:srgbClr val="FF0000"/>
                </a:solidFill>
                <a:latin typeface="Calibri" panose="020F0502020204030204" pitchFamily="34" charset="0"/>
              </a:rPr>
              <a:t> 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//returns true for the period on bridge</a:t>
            </a:r>
            <a:r>
              <a:rPr lang="en-GB" altLang="en-US" sz="2000" b="1" i="1">
                <a:solidFill>
                  <a:srgbClr val="FF0000"/>
                </a:solidFill>
                <a:latin typeface="Calibri" panose="020F0502020204030204" pitchFamily="34" charset="0"/>
              </a:rPr>
              <a:t>,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 from just befor</a:t>
            </a:r>
            <a:r>
              <a:rPr lang="en-GB" altLang="en-US" sz="2000" b="1" i="1">
                <a:solidFill>
                  <a:srgbClr val="FF0000"/>
                </a:solidFill>
                <a:latin typeface="Calibri" panose="020F0502020204030204" pitchFamily="34" charset="0"/>
              </a:rPr>
              <a:t>e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until just after</a:t>
            </a:r>
            <a:endParaRPr lang="en-GB" altLang="en-US" sz="2000" b="1" noProof="1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</a:t>
            </a: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public</a:t>
            </a:r>
            <a:r>
              <a:rPr lang="en-GB" altLang="en-US" sz="2000" b="1" noProof="1">
                <a:latin typeface="Calibri" panose="020F0502020204030204" pitchFamily="34" charset="0"/>
              </a:rPr>
              <a:t> boolean moveBlue(int i)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         throws</a:t>
            </a:r>
            <a:r>
              <a:rPr lang="en-GB" altLang="en-US" sz="2000" b="1" noProof="1">
                <a:latin typeface="Calibri" panose="020F0502020204030204" pitchFamily="34" charset="0"/>
              </a:rPr>
              <a:t> InterruptedException{…}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</a:t>
            </a: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public</a:t>
            </a:r>
            <a:r>
              <a:rPr lang="en-GB" altLang="en-US" sz="2000" b="1" noProof="1">
                <a:latin typeface="Calibri" panose="020F0502020204030204" pitchFamily="34" charset="0"/>
              </a:rPr>
              <a:t> synchronized void freeze(){…}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 freeze display</a:t>
            </a:r>
            <a:endParaRPr lang="en-GB" altLang="en-US" sz="2000" b="1" noProof="1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2000" b="1" noProof="1">
                <a:latin typeface="Calibri" panose="020F0502020204030204" pitchFamily="34" charset="0"/>
              </a:rPr>
              <a:t>  </a:t>
            </a:r>
            <a:r>
              <a:rPr lang="en-GB" altLang="en-US" sz="2000" b="1" noProof="1">
                <a:solidFill>
                  <a:srgbClr val="0000FF"/>
                </a:solidFill>
                <a:latin typeface="Calibri" panose="020F0502020204030204" pitchFamily="34" charset="0"/>
              </a:rPr>
              <a:t>public</a:t>
            </a:r>
            <a:r>
              <a:rPr lang="en-GB" altLang="en-US" sz="2000" b="1" noProof="1">
                <a:latin typeface="Calibri" panose="020F0502020204030204" pitchFamily="34" charset="0"/>
              </a:rPr>
              <a:t> synchronized void thaw(){…}  </a:t>
            </a:r>
            <a:r>
              <a:rPr lang="en-GB" altLang="en-US" sz="2000" b="1" i="1" noProof="1">
                <a:solidFill>
                  <a:srgbClr val="FF0000"/>
                </a:solidFill>
                <a:latin typeface="Calibri" panose="020F0502020204030204" pitchFamily="34" charset="0"/>
              </a:rPr>
              <a:t>//unfreeze display</a:t>
            </a:r>
            <a:r>
              <a:rPr lang="en-GB" altLang="en-US" sz="2000" b="1" i="1" noProof="1">
                <a:latin typeface="Calibri" panose="020F0502020204030204" pitchFamily="34" charset="0"/>
              </a:rPr>
              <a:t> </a:t>
            </a:r>
            <a:r>
              <a:rPr lang="en-US" altLang="en-US" sz="2000" b="1" i="1">
                <a:latin typeface="Calibri" panose="020F0502020204030204" pitchFamily="34" charset="0"/>
              </a:rPr>
              <a:t>  </a:t>
            </a:r>
            <a:r>
              <a:rPr lang="en-US" altLang="en-US" sz="2000" b="1" noProof="1">
                <a:latin typeface="Calibri" panose="020F0502020204030204" pitchFamily="34" charset="0"/>
              </a:rPr>
              <a:t>}</a:t>
            </a:r>
            <a:endParaRPr lang="en-GB" altLang="en-US" sz="20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20BADFE-911B-4C91-A921-048FB0090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</a:t>
            </a:r>
            <a:r>
              <a:rPr lang="en-GB" altLang="en-US" b="1">
                <a:solidFill>
                  <a:srgbClr val="CC3300"/>
                </a:solidFill>
                <a:latin typeface="Courier New" panose="02070309020205020404" pitchFamily="49" charset="0"/>
              </a:rPr>
              <a:t>RedCar</a:t>
            </a:r>
            <a:endParaRPr lang="en-GB" altLang="en-US" b="1"/>
          </a:p>
        </p:txBody>
      </p:sp>
      <p:sp>
        <p:nvSpPr>
          <p:cNvPr id="45059" name="Rectangle 8">
            <a:extLst>
              <a:ext uri="{FF2B5EF4-FFF2-40B4-BE49-F238E27FC236}">
                <a16:creationId xmlns:a16="http://schemas.microsoft.com/office/drawing/2014/main" id="{0645FA9D-D75D-4E9B-A6FD-712A722597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C3D366F-18EF-4DF1-B7E0-6EFF027E1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4" y="1219200"/>
            <a:ext cx="8162925" cy="487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id="{D277F636-61E9-457F-8865-26FE46C56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2301" y="1276350"/>
            <a:ext cx="8308975" cy="4947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 sz="2000" b="1" noProof="1">
                <a:latin typeface="Courier New" panose="02070309020205020404" pitchFamily="49" charset="0"/>
              </a:rPr>
              <a:t> RedCar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implements</a:t>
            </a:r>
            <a:r>
              <a:rPr lang="en-US" altLang="en-US" sz="2000" b="1" noProof="1">
                <a:latin typeface="Courier New" panose="02070309020205020404" pitchFamily="49" charset="0"/>
              </a:rPr>
              <a:t> Runnable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BridgeCanvas display; Bridge control; int id;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RedCar(Bridge b, BridgeCanvas d, int id)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display = d; this.id = id; control = b;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run()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000" b="1" noProof="1"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b="1" noProof="1">
                <a:latin typeface="Courier New" panose="02070309020205020404" pitchFamily="49" charset="0"/>
              </a:rPr>
              <a:t>(true)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b="1" noProof="1">
                <a:latin typeface="Courier New" panose="02070309020205020404" pitchFamily="49" charset="0"/>
              </a:rPr>
              <a:t> (!display.moveRed(id));   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not on bridge</a:t>
            </a:r>
            <a:endParaRPr lang="en-US" altLang="en-US" sz="2000" b="1" i="1" noProof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control.redEnter();      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request access to bridge</a:t>
            </a:r>
            <a:endParaRPr lang="en-US" altLang="en-US" sz="2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b="1" noProof="1">
                <a:latin typeface="Courier New" panose="02070309020205020404" pitchFamily="49" charset="0"/>
              </a:rPr>
              <a:t> (display.moveRed(id)); 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move over bridge</a:t>
            </a:r>
            <a:endParaRPr lang="en-US" altLang="en-US" sz="2000" b="1" i="1" noProof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control.redExit();       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release access to bridge</a:t>
            </a:r>
            <a:endParaRPr lang="en-US" altLang="en-US" sz="2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}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000" b="1" noProof="1">
                <a:latin typeface="Courier New" panose="02070309020205020404" pitchFamily="49" charset="0"/>
              </a:rPr>
              <a:t> (InterruptedException e) {}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}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5062" name="Text Box 5" descr="50%">
            <a:extLst>
              <a:ext uri="{FF2B5EF4-FFF2-40B4-BE49-F238E27FC236}">
                <a16:creationId xmlns:a16="http://schemas.microsoft.com/office/drawing/2014/main" id="{0846E397-17CE-4908-8544-C9A14DECC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389" y="6172200"/>
            <a:ext cx="5197475" cy="457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Similarly for the </a:t>
            </a:r>
            <a:r>
              <a:rPr lang="en-GB" altLang="en-US" sz="2400" b="1">
                <a:latin typeface="Courier New" panose="02070309020205020404" pitchFamily="49" charset="0"/>
              </a:rPr>
              <a:t>BlueCar</a:t>
            </a:r>
            <a:endParaRPr lang="en-GB" altLang="en-US" sz="24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E56FE4B-3E3A-4587-AB20-4763E82D5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07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 - class </a:t>
            </a:r>
            <a:r>
              <a:rPr lang="en-GB" altLang="en-US" b="1">
                <a:latin typeface="Courier New" panose="02070309020205020404" pitchFamily="49" charset="0"/>
              </a:rPr>
              <a:t>Bridge</a:t>
            </a:r>
            <a:endParaRPr lang="en-GB" altLang="en-US" b="1"/>
          </a:p>
        </p:txBody>
      </p:sp>
      <p:sp>
        <p:nvSpPr>
          <p:cNvPr id="47107" name="Rectangle 8">
            <a:extLst>
              <a:ext uri="{FF2B5EF4-FFF2-40B4-BE49-F238E27FC236}">
                <a16:creationId xmlns:a16="http://schemas.microsoft.com/office/drawing/2014/main" id="{AA82E598-5C17-4F61-BAA5-892E8118DA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5D5BA82-19C1-43D0-99F3-ECDC112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4" y="1371600"/>
            <a:ext cx="7526337" cy="2590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C156D610-AE9F-46D7-A120-0822BB6B0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1371601"/>
            <a:ext cx="73152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 sz="2000" b="1" noProof="1">
                <a:latin typeface="Courier New" panose="02070309020205020404" pitchFamily="49" charset="0"/>
              </a:rPr>
              <a:t> Bridge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 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redEnter()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	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en-US" sz="2000" b="1" noProof="1">
                <a:latin typeface="Courier New" panose="02070309020205020404" pitchFamily="49" charset="0"/>
              </a:rPr>
              <a:t> InterruptedException {}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 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redExit()  {}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 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blueEnter()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   	throws</a:t>
            </a:r>
            <a:r>
              <a:rPr lang="en-US" altLang="en-US" sz="2000" b="1" noProof="1">
                <a:latin typeface="Courier New" panose="02070309020205020404" pitchFamily="49" charset="0"/>
              </a:rPr>
              <a:t> InterruptedException {}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 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blueExit() {}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7110" name="Text Box 5">
            <a:extLst>
              <a:ext uri="{FF2B5EF4-FFF2-40B4-BE49-F238E27FC236}">
                <a16:creationId xmlns:a16="http://schemas.microsoft.com/office/drawing/2014/main" id="{AD938379-8779-445E-A033-E4709070E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4" y="4114800"/>
            <a:ext cx="752633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Class </a:t>
            </a:r>
            <a:r>
              <a:rPr lang="en-GB" altLang="en-US" sz="2400" b="1">
                <a:solidFill>
                  <a:srgbClr val="CC3300"/>
                </a:solidFill>
                <a:latin typeface="Courier New" panose="02070309020205020404" pitchFamily="49" charset="0"/>
              </a:rPr>
              <a:t>Bridge</a:t>
            </a:r>
            <a:r>
              <a:rPr lang="en-GB" altLang="en-US" sz="2400">
                <a:latin typeface="Comic Sans MS" panose="030F0702030302020204" pitchFamily="66" charset="0"/>
              </a:rPr>
              <a:t> provides a null implementation of the access methods i.e. no constraints on the access to the bridge.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</a:t>
            </a:r>
            <a:r>
              <a:rPr lang="en-GB" altLang="en-US" sz="2400" b="1" i="1">
                <a:solidFill>
                  <a:srgbClr val="CC3300"/>
                </a:solidFill>
                <a:latin typeface="Comic Sans MS" panose="030F0702030302020204" pitchFamily="66" charset="0"/>
              </a:rPr>
              <a:t>Result………… 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61889A10-BA83-475E-A592-252FD1689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Single Lane Bridge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id="{DC7597E9-9E16-4194-898F-706C9626DC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pic>
        <p:nvPicPr>
          <p:cNvPr id="49156" name="Picture 2" descr="figure7-7">
            <a:extLst>
              <a:ext uri="{FF2B5EF4-FFF2-40B4-BE49-F238E27FC236}">
                <a16:creationId xmlns:a16="http://schemas.microsoft.com/office/drawing/2014/main" id="{627AC6C6-B92B-4F24-8508-15C01BDDB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4" y="1295400"/>
            <a:ext cx="7596187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 Box 4">
            <a:extLst>
              <a:ext uri="{FF2B5EF4-FFF2-40B4-BE49-F238E27FC236}">
                <a16:creationId xmlns:a16="http://schemas.microsoft.com/office/drawing/2014/main" id="{854A88A4-2BBE-4BF5-9A24-A9C7954AB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1" y="5257801"/>
            <a:ext cx="76676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To ensure safety, the “safe” check box must be chosen in order to select the </a:t>
            </a:r>
            <a:r>
              <a:rPr lang="en-GB" altLang="en-US" sz="2400" b="1">
                <a:solidFill>
                  <a:srgbClr val="CC3300"/>
                </a:solidFill>
                <a:latin typeface="Courier New" panose="02070309020205020404" pitchFamily="49" charset="0"/>
              </a:rPr>
              <a:t>SafeBridge</a:t>
            </a:r>
            <a:r>
              <a:rPr lang="en-GB" altLang="en-US" sz="2400">
                <a:latin typeface="Comic Sans MS" panose="030F0702030302020204" pitchFamily="66" charset="0"/>
              </a:rPr>
              <a:t> implementation. </a:t>
            </a:r>
          </a:p>
        </p:txBody>
      </p:sp>
      <p:sp>
        <p:nvSpPr>
          <p:cNvPr id="49158" name="Line 5">
            <a:extLst>
              <a:ext uri="{FF2B5EF4-FFF2-40B4-BE49-F238E27FC236}">
                <a16:creationId xmlns:a16="http://schemas.microsoft.com/office/drawing/2014/main" id="{56A88FF4-F185-479A-AEEF-57994B5E09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1689" y="4724400"/>
            <a:ext cx="492125" cy="6096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8D131AB-E4D0-4F84-8790-29B0F4663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1203" name="Picture 2">
            <a:extLst>
              <a:ext uri="{FF2B5EF4-FFF2-40B4-BE49-F238E27FC236}">
                <a16:creationId xmlns:a16="http://schemas.microsoft.com/office/drawing/2014/main" id="{093552FD-B8C4-4BE1-8FFA-A3E55D4D6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7" r="12482"/>
          <a:stretch>
            <a:fillRect/>
          </a:stretch>
        </p:blipFill>
        <p:spPr bwMode="auto">
          <a:xfrm>
            <a:off x="1524001" y="-228600"/>
            <a:ext cx="9453563" cy="711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AFEEB74-05D6-447D-8A50-63C9F376E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2D69EE78-B21D-4397-91F8-DDE42B9FA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8" r="12807"/>
          <a:stretch>
            <a:fillRect/>
          </a:stretch>
        </p:blipFill>
        <p:spPr bwMode="auto">
          <a:xfrm>
            <a:off x="1524000" y="-15875"/>
            <a:ext cx="9410700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689D-FCD9-0A79-C3E7-49E1C846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7C40-2BE9-AC4B-BCDE-BB57EA3FD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Resume at 3:50p.m.</a:t>
            </a:r>
          </a:p>
          <a:p>
            <a:endParaRPr lang="en-MY" dirty="0"/>
          </a:p>
        </p:txBody>
      </p:sp>
      <p:pic>
        <p:nvPicPr>
          <p:cNvPr id="5" name="Graphic 4" descr="Lunch Box outline">
            <a:extLst>
              <a:ext uri="{FF2B5EF4-FFF2-40B4-BE49-F238E27FC236}">
                <a16:creationId xmlns:a16="http://schemas.microsoft.com/office/drawing/2014/main" id="{ABF91F53-BFB9-356A-564F-0C9159FD2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1382" y="35028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82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4431F79-8DDB-405F-A291-161E467E4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Synchronized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640E-4543-4384-A000-39E55CAE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One way to make Counter safe from thread interference is to make its methods synchronized, as in </a:t>
            </a:r>
            <a:r>
              <a:rPr lang="en-US" dirty="0" err="1"/>
              <a:t>SynchronizedCounter</a:t>
            </a:r>
            <a:r>
              <a:rPr lang="en-US" dirty="0"/>
              <a:t>: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class </a:t>
            </a:r>
            <a:r>
              <a:rPr lang="en-US" sz="1100" dirty="0" err="1"/>
              <a:t>SynchronizedCounter</a:t>
            </a:r>
            <a:r>
              <a:rPr lang="en-US" sz="1100" dirty="0"/>
              <a:t>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private </a:t>
            </a:r>
            <a:r>
              <a:rPr lang="en-US" sz="1100" dirty="0" err="1"/>
              <a:t>int</a:t>
            </a:r>
            <a:r>
              <a:rPr lang="en-US" sz="1100" dirty="0"/>
              <a:t> c = 0;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void increment()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</a:t>
            </a:r>
            <a:r>
              <a:rPr lang="en-US" sz="1100" dirty="0" err="1"/>
              <a:t>c++</a:t>
            </a:r>
            <a:r>
              <a:rPr lang="en-US" sz="1100" dirty="0"/>
              <a:t>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void decrement()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c--;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</a:t>
            </a:r>
            <a:r>
              <a:rPr lang="en-US" sz="1100" dirty="0" err="1"/>
              <a:t>int</a:t>
            </a:r>
            <a:r>
              <a:rPr lang="en-US" sz="1100" dirty="0"/>
              <a:t> value()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return c;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9B0B57B-EC1D-47B4-990A-CFF282283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AtomicCounter: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07264005-F994-4A5C-B251-79641931D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1200"/>
              <a:t>import java.util.concurrent.atomic.AtomicInteger;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class AtomicCounter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private AtomicInteger c = new AtomicInteger(0);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void increment()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c.incrementAndGet();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void decrement()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c.decrementAndGet();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int value()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return c.get();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071303F8-F095-49A0-B17E-EE003B8E8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java.util.concurrent 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2207AB05-5C22-4C93-92D9-FE9C517D2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/>
              <a:t>import java.util.concurrent.locks.Lock;</a:t>
            </a:r>
          </a:p>
          <a:p>
            <a:pPr marL="0" indent="0" eaLnBrk="1" hangingPunct="1">
              <a:buNone/>
            </a:pPr>
            <a:r>
              <a:rPr lang="en-US" altLang="en-US" sz="2800"/>
              <a:t>import java.util.concurrent.locks.ReentrantLock;</a:t>
            </a:r>
          </a:p>
          <a:p>
            <a:pPr marL="0" indent="0" eaLnBrk="1" hangingPunct="1">
              <a:buNone/>
            </a:pPr>
            <a:r>
              <a:rPr lang="en-US" altLang="en-US" sz="2800"/>
              <a:t>The Executor Interface</a:t>
            </a:r>
          </a:p>
          <a:p>
            <a:pPr marL="0" indent="0" eaLnBrk="1" hangingPunct="1">
              <a:buNone/>
            </a:pPr>
            <a:r>
              <a:rPr lang="en-US" altLang="en-US" sz="2800"/>
              <a:t>BlockingQueue </a:t>
            </a:r>
          </a:p>
          <a:p>
            <a:pPr marL="0" indent="0" eaLnBrk="1" hangingPunct="1">
              <a:buNone/>
            </a:pPr>
            <a:r>
              <a:rPr lang="en-US" altLang="en-US" sz="1800"/>
              <a:t>A first-in-first-out data structure that blocks or times out when you attempt to add to a full queue, or retrieve from an empty queue.</a:t>
            </a:r>
          </a:p>
          <a:p>
            <a:pPr marL="0" indent="0" eaLnBrk="1" hangingPunct="1">
              <a:buNone/>
            </a:pPr>
            <a:r>
              <a:rPr lang="en-US" altLang="en-US" sz="2800"/>
              <a:t>ConcurrentMap </a:t>
            </a:r>
          </a:p>
          <a:p>
            <a:pPr marL="0" indent="0" eaLnBrk="1" hangingPunct="1">
              <a:buNone/>
            </a:pPr>
            <a:r>
              <a:rPr lang="en-US" altLang="en-US" sz="1800"/>
              <a:t>a subinterface of java.util.Map that defines useful atomic operations.</a:t>
            </a:r>
            <a:r>
              <a:rPr lang="en-US" altLang="en-US" sz="280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8">
            <a:extLst>
              <a:ext uri="{FF2B5EF4-FFF2-40B4-BE49-F238E27FC236}">
                <a16:creationId xmlns:a16="http://schemas.microsoft.com/office/drawing/2014/main" id="{B07F5EF0-0BBF-4B0F-9DFA-41965A2CB0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52D0175E-7387-4DE9-A56A-4EB8921E8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14" y="236539"/>
            <a:ext cx="2924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3366"/>
                </a:solidFill>
              </a:rPr>
              <a:t>References</a:t>
            </a:r>
            <a:endParaRPr lang="en-US" altLang="en-US" sz="4000">
              <a:solidFill>
                <a:srgbClr val="003366"/>
              </a:solidFill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2963CFAF-A3ED-4F09-BA4C-0B8A8EE24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262189"/>
            <a:ext cx="8166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   Jeff M &amp; Jeff K, Concurrency – State Models &amp; Java Programming</a:t>
            </a:r>
            <a:r>
              <a:rPr lang="en-US" altLang="en-US" sz="3600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8">
            <a:extLst>
              <a:ext uri="{FF2B5EF4-FFF2-40B4-BE49-F238E27FC236}">
                <a16:creationId xmlns:a16="http://schemas.microsoft.com/office/drawing/2014/main" id="{B9050D4A-89E6-4290-A2E7-8DE347A63E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C010A81A-16AB-4407-BE3E-646AF9941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1" y="28829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3">
            <a:extLst>
              <a:ext uri="{FF2B5EF4-FFF2-40B4-BE49-F238E27FC236}">
                <a16:creationId xmlns:a16="http://schemas.microsoft.com/office/drawing/2014/main" id="{1348C78E-9500-41BB-B7B3-5C4ACCE94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B8BABB00-0EFB-485C-80A0-EF1C2F423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Liveness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ECD09597-7A2B-44C8-ABA6-3E800E1836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54563" y="3832225"/>
            <a:ext cx="5695950" cy="781050"/>
          </a:xfrm>
          <a:noFill/>
        </p:spPr>
        <p:txBody>
          <a:bodyPr/>
          <a:lstStyle/>
          <a:p>
            <a:pPr algn="r" eaLnBrk="1" hangingPunct="1"/>
            <a:r>
              <a:rPr lang="en-US" altLang="en-US" b="1"/>
              <a:t>Safety and Liveness Properties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017B081-0D08-4D17-A89D-45D3BB1CB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2241551"/>
            <a:ext cx="6754812" cy="8921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800" kern="0" dirty="0"/>
              <a:t>Concurrent Programming</a:t>
            </a:r>
            <a:br>
              <a:rPr lang="en-US" sz="3800" kern="0" dirty="0"/>
            </a:br>
            <a:r>
              <a:rPr lang="en-US" sz="1400" kern="0" dirty="0"/>
              <a:t>CT074-3-2 Version 0418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0A848307-7381-40BC-B949-25B9A9917F0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111375" y="346095"/>
            <a:ext cx="5846472" cy="553998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Topic &amp; Structure of The Lesson</a:t>
            </a:r>
            <a:endParaRPr lang="en-US" altLang="zh-TW" u="sng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新細明體" pitchFamily="18" charset="-120"/>
            </a:endParaRP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93CCB3F8-8A4A-4F9D-A878-8E5F1E37EA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3588" y="1697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Liveness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8">
            <a:extLst>
              <a:ext uri="{FF2B5EF4-FFF2-40B4-BE49-F238E27FC236}">
                <a16:creationId xmlns:a16="http://schemas.microsoft.com/office/drawing/2014/main" id="{DAAD0897-3547-4131-9EA2-93F596EF2E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65539" name="Rectangle 8">
            <a:extLst>
              <a:ext uri="{FF2B5EF4-FFF2-40B4-BE49-F238E27FC236}">
                <a16:creationId xmlns:a16="http://schemas.microsoft.com/office/drawing/2014/main" id="{BC9D8395-6347-409A-9B1E-FE9D614B5AB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chemeClr val="bg1"/>
                </a:solidFill>
              </a:rPr>
              <a:t>Slide  2 (of  17)</a:t>
            </a:r>
          </a:p>
        </p:txBody>
      </p:sp>
      <p:sp>
        <p:nvSpPr>
          <p:cNvPr id="65540" name="Text Box 2">
            <a:extLst>
              <a:ext uri="{FF2B5EF4-FFF2-40B4-BE49-F238E27FC236}">
                <a16:creationId xmlns:a16="http://schemas.microsoft.com/office/drawing/2014/main" id="{EE889211-8C10-4319-99BF-29A1C749F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0"/>
            <a:ext cx="399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/>
              <a:t>Learning Outcomes</a:t>
            </a:r>
          </a:p>
        </p:txBody>
      </p:sp>
      <p:sp>
        <p:nvSpPr>
          <p:cNvPr id="65541" name="Rectangle 3">
            <a:extLst>
              <a:ext uri="{FF2B5EF4-FFF2-40B4-BE49-F238E27FC236}">
                <a16:creationId xmlns:a16="http://schemas.microsoft.com/office/drawing/2014/main" id="{10066CA3-F9CC-41B4-B92C-80A6ECDC3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16189"/>
            <a:ext cx="8545513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914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tabLst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14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   At the end of this module, you should be able to do the following: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/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b="1"/>
              <a:t>Analyse concurrent systems for both safety and liveness.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55BF-D62A-4799-AA92-2227A44D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Key Terms You Must Be Able To Use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9B8D24C1-CC22-4DCA-ACAA-C5E132957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>
                <a:latin typeface="Century Gothic" panose="020B0502020202020204" pitchFamily="34" charset="0"/>
              </a:rPr>
              <a:t>If you have mastered this topic, </a:t>
            </a:r>
            <a:r>
              <a:rPr lang="en-US" altLang="en-US" sz="2000" b="1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assignments and exams</a:t>
            </a:r>
            <a:r>
              <a:rPr lang="en-US" altLang="en-US" sz="2000" b="1">
                <a:latin typeface="Century Gothic" panose="020B0502020202020204" pitchFamily="34" charset="0"/>
              </a:rPr>
              <a:t>:</a:t>
            </a:r>
          </a:p>
          <a:p>
            <a:pPr eaLnBrk="1" hangingPunct="1"/>
            <a:r>
              <a:rPr lang="en-US" altLang="en-US"/>
              <a:t>Liveness</a:t>
            </a:r>
          </a:p>
          <a:p>
            <a:pPr eaLnBrk="1" hangingPunct="1"/>
            <a:r>
              <a:rPr lang="en-US" altLang="en-US"/>
              <a:t>Fairness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4431F79-8DDB-405F-A291-161E467E4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Synchronized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640E-4543-4384-A000-39E55CAE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One way to make Counter safe from thread interference is to make its methods synchronized, as in </a:t>
            </a:r>
            <a:r>
              <a:rPr lang="en-US" dirty="0" err="1"/>
              <a:t>SynchronizedCounter</a:t>
            </a:r>
            <a:r>
              <a:rPr lang="en-US" dirty="0"/>
              <a:t>: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class </a:t>
            </a:r>
            <a:r>
              <a:rPr lang="en-US" sz="1100" dirty="0" err="1"/>
              <a:t>SynchronizedCounter</a:t>
            </a:r>
            <a:r>
              <a:rPr lang="en-US" sz="1100" dirty="0"/>
              <a:t>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private </a:t>
            </a:r>
            <a:r>
              <a:rPr lang="en-US" sz="1100" dirty="0" err="1"/>
              <a:t>int</a:t>
            </a:r>
            <a:r>
              <a:rPr lang="en-US" sz="1100" dirty="0"/>
              <a:t> c = 0;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void increment()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</a:t>
            </a:r>
            <a:r>
              <a:rPr lang="en-US" sz="1100" dirty="0" err="1"/>
              <a:t>c++</a:t>
            </a:r>
            <a:r>
              <a:rPr lang="en-US" sz="1100" dirty="0"/>
              <a:t>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void decrement()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c--;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    public synchronized </a:t>
            </a:r>
            <a:r>
              <a:rPr lang="en-US" sz="1100" dirty="0" err="1"/>
              <a:t>int</a:t>
            </a:r>
            <a:r>
              <a:rPr lang="en-US" sz="1100" dirty="0"/>
              <a:t> value() {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    return c;</a:t>
            </a:r>
          </a:p>
          <a:p>
            <a:pPr marL="0" indent="0" eaLnBrk="1" hangingPunct="1">
              <a:buNone/>
              <a:defRPr/>
            </a:pPr>
            <a:r>
              <a:rPr lang="en-US" sz="1100" dirty="0"/>
              <a:t>    }</a:t>
            </a:r>
          </a:p>
          <a:p>
            <a:pPr marL="0" indent="0" eaLnBrk="1" hangingPunct="1">
              <a:buNone/>
              <a:defRPr/>
            </a:pPr>
            <a:endParaRPr lang="en-US" sz="1100" dirty="0"/>
          </a:p>
          <a:p>
            <a:pPr marL="0" indent="0" eaLnBrk="1" hangingPunct="1">
              <a:buNone/>
              <a:defRPr/>
            </a:pPr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8001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9B0B57B-EC1D-47B4-990A-CFF282283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AtomicCounter: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07264005-F994-4A5C-B251-79641931D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1200"/>
              <a:t>import java.util.concurrent.atomic.AtomicInteger;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class AtomicCounter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private AtomicInteger c = new AtomicInteger(0);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void increment()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c.incrementAndGet();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void decrement()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c.decrementAndGet();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    public int value() {</a:t>
            </a:r>
          </a:p>
          <a:p>
            <a:pPr marL="0" indent="0" eaLnBrk="1" hangingPunct="1">
              <a:buNone/>
            </a:pPr>
            <a:r>
              <a:rPr lang="en-US" altLang="en-US" sz="1200"/>
              <a:t>        return c.get();</a:t>
            </a:r>
          </a:p>
          <a:p>
            <a:pPr marL="0" indent="0" eaLnBrk="1" hangingPunct="1">
              <a:buNone/>
            </a:pPr>
            <a:r>
              <a:rPr lang="en-US" altLang="en-US" sz="1200"/>
              <a:t>    }</a:t>
            </a:r>
          </a:p>
          <a:p>
            <a:pPr marL="0" indent="0" eaLnBrk="1" hangingPunct="1">
              <a:buNone/>
            </a:pPr>
            <a:endParaRPr lang="en-US" altLang="en-US" sz="1200"/>
          </a:p>
          <a:p>
            <a:pPr marL="0" indent="0" eaLnBrk="1" hangingPunct="1">
              <a:buNone/>
            </a:pPr>
            <a:r>
              <a:rPr lang="en-US" altLang="en-US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031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071303F8-F095-49A0-B17E-EE003B8E8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java.util.concurrent 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2207AB05-5C22-4C93-92D9-FE9C517D2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/>
              <a:t>import java.util.concurrent.locks.Lock;</a:t>
            </a:r>
          </a:p>
          <a:p>
            <a:pPr marL="0" indent="0" eaLnBrk="1" hangingPunct="1">
              <a:buNone/>
            </a:pPr>
            <a:r>
              <a:rPr lang="en-US" altLang="en-US" sz="2800"/>
              <a:t>import java.util.concurrent.locks.ReentrantLock;</a:t>
            </a:r>
          </a:p>
          <a:p>
            <a:pPr marL="0" indent="0" eaLnBrk="1" hangingPunct="1">
              <a:buNone/>
            </a:pPr>
            <a:r>
              <a:rPr lang="en-US" altLang="en-US" sz="2800"/>
              <a:t>The Executor Interface</a:t>
            </a:r>
          </a:p>
          <a:p>
            <a:pPr marL="0" indent="0" eaLnBrk="1" hangingPunct="1">
              <a:buNone/>
            </a:pPr>
            <a:r>
              <a:rPr lang="en-US" altLang="en-US" sz="2800"/>
              <a:t>BlockingQueue </a:t>
            </a:r>
          </a:p>
          <a:p>
            <a:pPr marL="0" indent="0" eaLnBrk="1" hangingPunct="1">
              <a:buNone/>
            </a:pPr>
            <a:r>
              <a:rPr lang="en-US" altLang="en-US" sz="1800"/>
              <a:t>A first-in-first-out data structure that blocks or times out when you attempt to add to a full queue, or retrieve from an empty queue.</a:t>
            </a:r>
          </a:p>
          <a:p>
            <a:pPr marL="0" indent="0" eaLnBrk="1" hangingPunct="1">
              <a:buNone/>
            </a:pPr>
            <a:r>
              <a:rPr lang="en-US" altLang="en-US" sz="2800"/>
              <a:t>ConcurrentMap </a:t>
            </a:r>
          </a:p>
          <a:p>
            <a:pPr marL="0" indent="0" eaLnBrk="1" hangingPunct="1">
              <a:buNone/>
            </a:pPr>
            <a:r>
              <a:rPr lang="en-US" altLang="en-US" sz="1800"/>
              <a:t>a subinterface of java.util.Map that defines useful atomic operations.</a:t>
            </a:r>
            <a:r>
              <a:rPr lang="en-US" altLang="en-US" sz="2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4171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>
            <a:extLst>
              <a:ext uri="{FF2B5EF4-FFF2-40B4-BE49-F238E27FC236}">
                <a16:creationId xmlns:a16="http://schemas.microsoft.com/office/drawing/2014/main" id="{78492057-BBC9-439D-BB1C-2143C7B50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6150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/>
              <a:t>Safety &amp; Liveness properties</a:t>
            </a:r>
          </a:p>
        </p:txBody>
      </p:sp>
      <p:sp>
        <p:nvSpPr>
          <p:cNvPr id="68611" name="Rectangle 8">
            <a:extLst>
              <a:ext uri="{FF2B5EF4-FFF2-40B4-BE49-F238E27FC236}">
                <a16:creationId xmlns:a16="http://schemas.microsoft.com/office/drawing/2014/main" id="{D7A26B17-75BC-4655-AE2C-4EF693B381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002DFBE-1646-4F34-BAAC-F71BD70FF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0" y="1371601"/>
            <a:ext cx="7793038" cy="500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34A22B99-560F-44BF-A06D-B274EE2C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4" y="1539876"/>
            <a:ext cx="7596187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Concepts</a:t>
            </a:r>
            <a:r>
              <a:rPr lang="en-GB" altLang="en-US" sz="2400">
                <a:latin typeface="Comic Sans MS" panose="030F0702030302020204" pitchFamily="66" charset="0"/>
              </a:rPr>
              <a:t>: 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properties</a:t>
            </a:r>
            <a:r>
              <a:rPr lang="en-GB" altLang="en-US" sz="2400">
                <a:latin typeface="Comic Sans MS" panose="030F0702030302020204" pitchFamily="66" charset="0"/>
              </a:rPr>
              <a:t>: true for every possible 			execution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safety</a:t>
            </a:r>
            <a:r>
              <a:rPr lang="en-GB" altLang="en-US" sz="2400">
                <a:latin typeface="Comic Sans MS" panose="030F0702030302020204" pitchFamily="66" charset="0"/>
              </a:rPr>
              <a:t>: nothing bad happens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liveness</a:t>
            </a:r>
            <a:r>
              <a:rPr lang="en-GB" altLang="en-US" sz="2400">
                <a:latin typeface="Comic Sans MS" panose="030F0702030302020204" pitchFamily="66" charset="0"/>
              </a:rPr>
              <a:t>: something good </a:t>
            </a:r>
            <a:r>
              <a:rPr lang="en-GB" altLang="en-US" sz="2400" i="1">
                <a:solidFill>
                  <a:srgbClr val="CC0000"/>
                </a:solidFill>
                <a:latin typeface="Comic Sans MS" panose="030F0702030302020204" pitchFamily="66" charset="0"/>
              </a:rPr>
              <a:t>eventually</a:t>
            </a:r>
            <a:r>
              <a:rPr lang="en-GB" altLang="en-US" sz="2400">
                <a:latin typeface="Comic Sans MS" panose="030F0702030302020204" pitchFamily="66" charset="0"/>
              </a:rPr>
              <a:t> 			happens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  	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4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Practice</a:t>
            </a:r>
            <a:r>
              <a:rPr lang="en-GB" altLang="en-US" sz="2400">
                <a:latin typeface="Comic Sans MS" panose="030F0702030302020204" pitchFamily="66" charset="0"/>
              </a:rPr>
              <a:t>:   threads and monitors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F095B27C-7B0C-41D3-BDFE-DD9CBA562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742950"/>
          </a:xfrm>
        </p:spPr>
        <p:txBody>
          <a:bodyPr/>
          <a:lstStyle/>
          <a:p>
            <a:pPr eaLnBrk="1" hangingPunct="1"/>
            <a:r>
              <a:rPr lang="en-GB" altLang="en-US" b="1"/>
              <a:t>Liveness</a:t>
            </a:r>
          </a:p>
        </p:txBody>
      </p:sp>
      <p:sp>
        <p:nvSpPr>
          <p:cNvPr id="70659" name="Rectangle 8">
            <a:extLst>
              <a:ext uri="{FF2B5EF4-FFF2-40B4-BE49-F238E27FC236}">
                <a16:creationId xmlns:a16="http://schemas.microsoft.com/office/drawing/2014/main" id="{EF96B28A-1816-491D-B4CD-7D12549D13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B1C4FCED-CC52-4733-97FB-CC7DA579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4" y="1066800"/>
            <a:ext cx="8302625" cy="16764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0661" name="Text Box 4">
            <a:extLst>
              <a:ext uri="{FF2B5EF4-FFF2-40B4-BE49-F238E27FC236}">
                <a16:creationId xmlns:a16="http://schemas.microsoft.com/office/drawing/2014/main" id="{F0A4BF78-F9D7-473F-BDC5-A4D0A0704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714" y="1181101"/>
            <a:ext cx="816768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A </a:t>
            </a: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safety</a:t>
            </a: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 property asserts that nothing bad happens.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A </a:t>
            </a: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liveness</a:t>
            </a: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 property asserts that something good </a:t>
            </a:r>
            <a:r>
              <a:rPr lang="en-GB" altLang="en-US" sz="2400" b="1" i="1">
                <a:solidFill>
                  <a:schemeClr val="bg1"/>
                </a:solidFill>
                <a:latin typeface="Comic Sans MS" panose="030F0702030302020204" pitchFamily="66" charset="0"/>
              </a:rPr>
              <a:t>eventually</a:t>
            </a: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 happens.</a:t>
            </a:r>
          </a:p>
        </p:txBody>
      </p:sp>
      <p:sp>
        <p:nvSpPr>
          <p:cNvPr id="70662" name="Text Box 5">
            <a:extLst>
              <a:ext uri="{FF2B5EF4-FFF2-40B4-BE49-F238E27FC236}">
                <a16:creationId xmlns:a16="http://schemas.microsoft.com/office/drawing/2014/main" id="{27D6EEE8-7823-4D89-8595-1D77FBBD7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3124201"/>
            <a:ext cx="7175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Single Lane Bridge: </a:t>
            </a:r>
            <a:r>
              <a:rPr lang="en-GB" altLang="en-US" sz="2400" i="1">
                <a:latin typeface="Comic Sans MS" panose="030F0702030302020204" pitchFamily="66" charset="0"/>
              </a:rPr>
              <a:t>Does every car </a:t>
            </a:r>
            <a:r>
              <a:rPr lang="en-GB" altLang="en-US" sz="2400" i="1">
                <a:solidFill>
                  <a:schemeClr val="accent2"/>
                </a:solidFill>
                <a:latin typeface="Comic Sans MS" panose="030F0702030302020204" pitchFamily="66" charset="0"/>
              </a:rPr>
              <a:t>eventually</a:t>
            </a:r>
            <a:r>
              <a:rPr lang="en-GB" altLang="en-US" sz="2400" i="1">
                <a:latin typeface="Comic Sans MS" panose="030F0702030302020204" pitchFamily="66" charset="0"/>
              </a:rPr>
              <a:t> get an opportunity to cross the bridge?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0663" name="Text Box 6">
            <a:extLst>
              <a:ext uri="{FF2B5EF4-FFF2-40B4-BE49-F238E27FC236}">
                <a16:creationId xmlns:a16="http://schemas.microsoft.com/office/drawing/2014/main" id="{72F41957-BF9C-46EA-A79A-6B1250DAF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4114800"/>
            <a:ext cx="450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ie. make </a:t>
            </a:r>
            <a:r>
              <a:rPr lang="en-GB" altLang="en-US" sz="2400" b="1">
                <a:solidFill>
                  <a:srgbClr val="CC3300"/>
                </a:solidFill>
                <a:latin typeface="Comic Sans MS" panose="030F0702030302020204" pitchFamily="66" charset="0"/>
              </a:rPr>
              <a:t>PROGRESS?</a:t>
            </a:r>
          </a:p>
        </p:txBody>
      </p:sp>
      <p:sp>
        <p:nvSpPr>
          <p:cNvPr id="70664" name="Text Box 7">
            <a:extLst>
              <a:ext uri="{FF2B5EF4-FFF2-40B4-BE49-F238E27FC236}">
                <a16:creationId xmlns:a16="http://schemas.microsoft.com/office/drawing/2014/main" id="{DF66CDBE-3A37-403D-978F-C1EDC4ACF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3" y="4695825"/>
            <a:ext cx="808831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A 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progress property</a:t>
            </a:r>
            <a:r>
              <a:rPr lang="en-GB" altLang="en-US" sz="2400">
                <a:latin typeface="Comic Sans MS" panose="030F0702030302020204" pitchFamily="66" charset="0"/>
              </a:rPr>
              <a:t> asserts that it is </a:t>
            </a:r>
            <a:r>
              <a:rPr lang="en-GB" altLang="en-US" sz="2400" i="1">
                <a:latin typeface="Comic Sans MS" panose="030F0702030302020204" pitchFamily="66" charset="0"/>
              </a:rPr>
              <a:t>always</a:t>
            </a:r>
            <a:r>
              <a:rPr lang="en-GB" altLang="en-US" sz="2400">
                <a:latin typeface="Comic Sans MS" panose="030F0702030302020204" pitchFamily="66" charset="0"/>
              </a:rPr>
              <a:t> the case that an action is </a:t>
            </a:r>
            <a:r>
              <a:rPr lang="en-GB" altLang="en-US" sz="2400" i="1">
                <a:latin typeface="Comic Sans MS" panose="030F0702030302020204" pitchFamily="66" charset="0"/>
              </a:rPr>
              <a:t>eventually</a:t>
            </a:r>
            <a:r>
              <a:rPr lang="en-GB" altLang="en-US" sz="2400">
                <a:latin typeface="Comic Sans MS" panose="030F0702030302020204" pitchFamily="66" charset="0"/>
              </a:rPr>
              <a:t> executed. </a:t>
            </a: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Progress</a:t>
            </a:r>
            <a:r>
              <a:rPr lang="en-GB" altLang="en-US" sz="2400">
                <a:latin typeface="Comic Sans MS" panose="030F0702030302020204" pitchFamily="66" charset="0"/>
              </a:rPr>
              <a:t> is the opposite of </a:t>
            </a:r>
            <a:r>
              <a:rPr lang="en-GB" altLang="en-US" sz="2400" i="1">
                <a:solidFill>
                  <a:srgbClr val="CC3300"/>
                </a:solidFill>
                <a:latin typeface="Comic Sans MS" panose="030F0702030302020204" pitchFamily="66" charset="0"/>
              </a:rPr>
              <a:t>starvation</a:t>
            </a:r>
            <a:r>
              <a:rPr lang="en-GB" altLang="en-US" sz="2400">
                <a:latin typeface="Comic Sans MS" panose="030F0702030302020204" pitchFamily="66" charset="0"/>
              </a:rPr>
              <a:t>, the name given to a concurrent programming situation in which an action is never executed.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A5748170-0520-40E4-882D-CC4D2DE8C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DA7A53EF-B111-417E-A68C-21F46D2F0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starvation-freedom implies deadlock-freedom, while deadlock-freedom does not imply starvation-freedom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05D6EC-D2B1-412C-8B57-66AA67957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/>
              <a:t>Progress properties - fair choice</a:t>
            </a:r>
          </a:p>
        </p:txBody>
      </p:sp>
      <p:sp>
        <p:nvSpPr>
          <p:cNvPr id="73731" name="Rectangle 8">
            <a:extLst>
              <a:ext uri="{FF2B5EF4-FFF2-40B4-BE49-F238E27FC236}">
                <a16:creationId xmlns:a16="http://schemas.microsoft.com/office/drawing/2014/main" id="{1ADAF691-33F8-462A-8D83-39EBBC2A38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4817A051-72E8-4703-906B-6BE411CD8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2781301"/>
            <a:ext cx="372745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If a coin were tossed an infinite number of times, we would expect that heads would be chosen infinitely often </a:t>
            </a:r>
            <a:r>
              <a:rPr lang="en-GB" altLang="en-US" sz="2800">
                <a:latin typeface="Comic Sans MS" panose="030F0702030302020204" pitchFamily="66" charset="0"/>
              </a:rPr>
              <a:t>and</a:t>
            </a:r>
            <a:r>
              <a:rPr lang="en-GB" altLang="en-US" sz="2400">
                <a:latin typeface="Comic Sans MS" panose="030F0702030302020204" pitchFamily="66" charset="0"/>
              </a:rPr>
              <a:t> that tails would be chosen infinitely often.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This requires </a:t>
            </a:r>
            <a:r>
              <a:rPr lang="en-GB" altLang="en-US" sz="2400" b="1">
                <a:solidFill>
                  <a:srgbClr val="CC3300"/>
                </a:solidFill>
                <a:latin typeface="Comic Sans MS" panose="030F0702030302020204" pitchFamily="66" charset="0"/>
              </a:rPr>
              <a:t>Fair Choice</a:t>
            </a: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2400">
                <a:latin typeface="Comic Sans MS" panose="030F0702030302020204" pitchFamily="66" charset="0"/>
              </a:rPr>
              <a:t>! </a:t>
            </a:r>
          </a:p>
        </p:txBody>
      </p:sp>
      <p:sp>
        <p:nvSpPr>
          <p:cNvPr id="73733" name="Rectangle 7">
            <a:extLst>
              <a:ext uri="{FF2B5EF4-FFF2-40B4-BE49-F238E27FC236}">
                <a16:creationId xmlns:a16="http://schemas.microsoft.com/office/drawing/2014/main" id="{2122D2F4-6040-48EF-A15C-1A9607F0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4" y="1295400"/>
            <a:ext cx="7737475" cy="12954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3734" name="Text Box 8">
            <a:extLst>
              <a:ext uri="{FF2B5EF4-FFF2-40B4-BE49-F238E27FC236}">
                <a16:creationId xmlns:a16="http://schemas.microsoft.com/office/drawing/2014/main" id="{4D498CE6-F7F4-48AD-98D7-89262B6F9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138" y="1295401"/>
            <a:ext cx="81597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Fair Choice:</a:t>
            </a:r>
            <a:r>
              <a:rPr lang="en-GB" altLang="en-US" sz="2400">
                <a:solidFill>
                  <a:schemeClr val="bg1"/>
                </a:solidFill>
                <a:latin typeface="Comic Sans MS" panose="030F0702030302020204" pitchFamily="66" charset="0"/>
              </a:rPr>
              <a:t> If a choice over a set of transitions is executed infinitely often, then every transition in the set will be executed infinitely often.</a:t>
            </a:r>
          </a:p>
        </p:txBody>
      </p:sp>
      <p:pic>
        <p:nvPicPr>
          <p:cNvPr id="73735" name="Picture 2">
            <a:extLst>
              <a:ext uri="{FF2B5EF4-FFF2-40B4-BE49-F238E27FC236}">
                <a16:creationId xmlns:a16="http://schemas.microsoft.com/office/drawing/2014/main" id="{E4722A74-EACC-4222-A95D-E83DB13C0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89" y="2698751"/>
            <a:ext cx="2695575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9E4FD305-E7B6-4B0B-BDCE-109F7C498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Progress - single lane bridge</a:t>
            </a:r>
          </a:p>
        </p:txBody>
      </p:sp>
      <p:sp>
        <p:nvSpPr>
          <p:cNvPr id="75779" name="Rectangle 8">
            <a:extLst>
              <a:ext uri="{FF2B5EF4-FFF2-40B4-BE49-F238E27FC236}">
                <a16:creationId xmlns:a16="http://schemas.microsoft.com/office/drawing/2014/main" id="{387DC5E4-2245-4709-B438-04CC499EF9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graphicFrame>
        <p:nvGraphicFramePr>
          <p:cNvPr id="75780" name="Object 5">
            <a:extLst>
              <a:ext uri="{FF2B5EF4-FFF2-40B4-BE49-F238E27FC236}">
                <a16:creationId xmlns:a16="http://schemas.microsoft.com/office/drawing/2014/main" id="{FE652C90-ACFB-4819-8FE8-0D93F415A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9176" y="1193800"/>
          <a:ext cx="5205413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887468" imgH="2229612" progId="Word.Document.8">
                  <p:embed/>
                </p:oleObj>
              </mc:Choice>
              <mc:Fallback>
                <p:oleObj name="Document" r:id="rId3" imgW="4887468" imgH="2229612" progId="Word.Document.8">
                  <p:embed/>
                  <p:pic>
                    <p:nvPicPr>
                      <p:cNvPr id="75780" name="Object 5">
                        <a:extLst>
                          <a:ext uri="{FF2B5EF4-FFF2-40B4-BE49-F238E27FC236}">
                            <a16:creationId xmlns:a16="http://schemas.microsoft.com/office/drawing/2014/main" id="{FE652C90-ACFB-4819-8FE8-0D93F415A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6" y="1193800"/>
                        <a:ext cx="5205413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6">
            <a:extLst>
              <a:ext uri="{FF2B5EF4-FFF2-40B4-BE49-F238E27FC236}">
                <a16:creationId xmlns:a16="http://schemas.microsoft.com/office/drawing/2014/main" id="{5C2731C7-CDB3-44B6-AFE7-4FC0A2EA8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971550"/>
            <a:ext cx="267335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The Single Lane Bridge implementation can permit progress violations. </a:t>
            </a:r>
          </a:p>
        </p:txBody>
      </p:sp>
      <p:sp>
        <p:nvSpPr>
          <p:cNvPr id="75782" name="Rectangle 7">
            <a:extLst>
              <a:ext uri="{FF2B5EF4-FFF2-40B4-BE49-F238E27FC236}">
                <a16:creationId xmlns:a16="http://schemas.microsoft.com/office/drawing/2014/main" id="{E94DB072-28C3-4053-B762-60AF2BFBB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91001"/>
            <a:ext cx="8510588" cy="1636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5783" name="Text Box 8">
            <a:extLst>
              <a:ext uri="{FF2B5EF4-FFF2-40B4-BE49-F238E27FC236}">
                <a16:creationId xmlns:a16="http://schemas.microsoft.com/office/drawing/2014/main" id="{08403D30-F02F-411E-93E4-7021C9832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6" y="4227514"/>
            <a:ext cx="76628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Fair choice</a:t>
            </a:r>
            <a:r>
              <a:rPr lang="en-GB" altLang="en-US" sz="2000">
                <a:latin typeface="Comic Sans MS" panose="030F0702030302020204" pitchFamily="66" charset="0"/>
              </a:rPr>
              <a:t> means that eventually every possible execution occurs, including those in which cars do not starve. To detect progress problems we must check under </a:t>
            </a:r>
            <a:r>
              <a:rPr lang="en-GB" altLang="en-US" sz="2000">
                <a:solidFill>
                  <a:srgbClr val="CC3300"/>
                </a:solidFill>
                <a:latin typeface="Comic Sans MS" panose="030F0702030302020204" pitchFamily="66" charset="0"/>
              </a:rPr>
              <a:t>adverse conditions</a:t>
            </a:r>
            <a:r>
              <a:rPr lang="en-GB" altLang="en-US" sz="2000">
                <a:latin typeface="Comic Sans MS" panose="030F0702030302020204" pitchFamily="66" charset="0"/>
              </a:rPr>
              <a:t>. We superimpose some </a:t>
            </a:r>
            <a:r>
              <a:rPr lang="en-GB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scheduling policy</a:t>
            </a:r>
            <a:r>
              <a:rPr lang="en-GB" altLang="en-US" sz="2000">
                <a:latin typeface="Comic Sans MS" panose="030F0702030302020204" pitchFamily="66" charset="0"/>
              </a:rPr>
              <a:t> for actions, which models the situation in which the bridge is </a:t>
            </a:r>
            <a:r>
              <a:rPr lang="en-GB" altLang="en-US" sz="2000" b="1">
                <a:solidFill>
                  <a:srgbClr val="CC3300"/>
                </a:solidFill>
                <a:latin typeface="Comic Sans MS" panose="030F0702030302020204" pitchFamily="66" charset="0"/>
              </a:rPr>
              <a:t>congested</a:t>
            </a:r>
            <a:r>
              <a:rPr lang="en-GB" altLang="en-US" sz="2000">
                <a:latin typeface="Comic Sans MS" panose="030F0702030302020204" pitchFamily="66" charset="0"/>
              </a:rPr>
              <a:t>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6E8EE4B-84C4-4ACD-80A1-0B48FB83B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1225" y="0"/>
            <a:ext cx="7042150" cy="533400"/>
          </a:xfrm>
        </p:spPr>
        <p:txBody>
          <a:bodyPr/>
          <a:lstStyle/>
          <a:p>
            <a:pPr eaLnBrk="1" hangingPunct="1"/>
            <a:r>
              <a:rPr lang="en-GB" altLang="en-US" sz="3200">
                <a:solidFill>
                  <a:srgbClr val="CC3300"/>
                </a:solidFill>
              </a:rPr>
              <a:t>Congested</a:t>
            </a:r>
            <a:r>
              <a:rPr lang="en-GB" altLang="en-US" sz="3200"/>
              <a:t> single lane bridge</a:t>
            </a:r>
          </a:p>
        </p:txBody>
      </p:sp>
      <p:sp>
        <p:nvSpPr>
          <p:cNvPr id="77827" name="Rectangle 8">
            <a:extLst>
              <a:ext uri="{FF2B5EF4-FFF2-40B4-BE49-F238E27FC236}">
                <a16:creationId xmlns:a16="http://schemas.microsoft.com/office/drawing/2014/main" id="{A69CB441-3DA2-4A1F-B2C7-92E25C5BDA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77828" name="Text Box 5">
            <a:extLst>
              <a:ext uri="{FF2B5EF4-FFF2-40B4-BE49-F238E27FC236}">
                <a16:creationId xmlns:a16="http://schemas.microsoft.com/office/drawing/2014/main" id="{D4D5E676-EC85-4FD3-8CFC-BB18336BC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14" y="1914525"/>
            <a:ext cx="8174037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altLang="en-US" sz="2400" b="1" i="1">
                <a:latin typeface="Comic Sans MS" panose="030F0702030302020204" pitchFamily="66" charset="0"/>
              </a:rPr>
              <a:t>Congestion using action priority</a:t>
            </a:r>
            <a:r>
              <a:rPr lang="en-GB" altLang="en-US" sz="2400" b="1">
                <a:latin typeface="Comic Sans MS" panose="030F0702030302020204" pitchFamily="66" charset="0"/>
              </a:rPr>
              <a:t>?</a:t>
            </a:r>
            <a:endParaRPr lang="en-GB" altLang="en-US" sz="2400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Could give </a:t>
            </a:r>
            <a:r>
              <a:rPr lang="en-GB" altLang="en-US" sz="2000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sz="2000">
                <a:latin typeface="Comic Sans MS" panose="030F0702030302020204" pitchFamily="66" charset="0"/>
              </a:rPr>
              <a:t> cars priority over </a:t>
            </a:r>
            <a:r>
              <a:rPr lang="en-GB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sz="2000">
                <a:latin typeface="Comic Sans MS" panose="030F0702030302020204" pitchFamily="66" charset="0"/>
              </a:rPr>
              <a:t> (or vice versa) ?          In practice neither has priority over the other.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Instead we merely encourage congestion by </a:t>
            </a:r>
            <a:r>
              <a:rPr lang="en-GB" altLang="en-US" sz="2000" i="1">
                <a:latin typeface="Comic Sans MS" panose="030F0702030302020204" pitchFamily="66" charset="0"/>
              </a:rPr>
              <a:t>lowering the priority of the exit actions of both cars from the bridge</a:t>
            </a:r>
            <a:r>
              <a:rPr lang="en-GB" altLang="en-US" sz="2000">
                <a:latin typeface="Comic Sans MS" panose="030F0702030302020204" pitchFamily="66" charset="0"/>
              </a:rPr>
              <a:t>. 	</a:t>
            </a:r>
            <a:endParaRPr lang="en-GB" altLang="en-US" sz="2000" b="1">
              <a:latin typeface="Courier New" panose="02070309020205020404" pitchFamily="49" charset="0"/>
            </a:endParaRPr>
          </a:p>
        </p:txBody>
      </p:sp>
      <p:sp>
        <p:nvSpPr>
          <p:cNvPr id="77829" name="Text Box 5">
            <a:extLst>
              <a:ext uri="{FF2B5EF4-FFF2-40B4-BE49-F238E27FC236}">
                <a16:creationId xmlns:a16="http://schemas.microsoft.com/office/drawing/2014/main" id="{49F4C958-547B-4052-87B1-17B0BCAAE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839" y="4481514"/>
            <a:ext cx="82899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This corresponds with the observation that, with</a:t>
            </a:r>
            <a:r>
              <a:rPr lang="en-GB" altLang="en-US" sz="2000" b="1" i="1">
                <a:latin typeface="Comic Sans MS" panose="030F0702030302020204" pitchFamily="66" charset="0"/>
              </a:rPr>
              <a:t> more than one car</a:t>
            </a:r>
            <a:r>
              <a:rPr lang="en-GB" altLang="en-US" sz="2000" b="1">
                <a:latin typeface="Comic Sans MS" panose="030F0702030302020204" pitchFamily="66" charset="0"/>
              </a:rPr>
              <a:t>, it is possible that whichever colour car enters the bridge first will continuously occupy the bridge preventing the other colour from ever crossing.</a:t>
            </a:r>
            <a:endParaRPr lang="en-GB" altLang="en-US" sz="2000" b="1" i="1">
              <a:solidFill>
                <a:srgbClr val="CC33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16EBFEBC-B448-4AAB-8035-A10D7A6F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Progress - analysis of </a:t>
            </a:r>
            <a:r>
              <a:rPr lang="en-GB" altLang="en-US" b="1">
                <a:solidFill>
                  <a:srgbClr val="CC3300"/>
                </a:solidFill>
              </a:rPr>
              <a:t>revised</a:t>
            </a:r>
            <a:r>
              <a:rPr lang="en-GB" altLang="en-US" b="1"/>
              <a:t> single lane bridge model</a:t>
            </a:r>
          </a:p>
        </p:txBody>
      </p:sp>
      <p:sp>
        <p:nvSpPr>
          <p:cNvPr id="79875" name="Rectangle 8">
            <a:extLst>
              <a:ext uri="{FF2B5EF4-FFF2-40B4-BE49-F238E27FC236}">
                <a16:creationId xmlns:a16="http://schemas.microsoft.com/office/drawing/2014/main" id="{8456E09B-F9A8-4FED-90E0-9CB41989F2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79876" name="Text Box 5">
            <a:extLst>
              <a:ext uri="{FF2B5EF4-FFF2-40B4-BE49-F238E27FC236}">
                <a16:creationId xmlns:a16="http://schemas.microsoft.com/office/drawing/2014/main" id="{ABF0F6EB-B167-4B60-9B0D-9D55A4DF1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6" y="1684338"/>
            <a:ext cx="8126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The scenario in which there are cars waiting at both ends, and consequently, the bridge does not allow either red or blue cars to enter.</a:t>
            </a:r>
            <a:endParaRPr lang="en-GB" altLang="en-US" sz="1800">
              <a:latin typeface="Comic Sans MS" panose="030F0702030302020204" pitchFamily="66" charset="0"/>
            </a:endParaRPr>
          </a:p>
        </p:txBody>
      </p:sp>
      <p:sp>
        <p:nvSpPr>
          <p:cNvPr id="586758" name="Text Box 6">
            <a:extLst>
              <a:ext uri="{FF2B5EF4-FFF2-40B4-BE49-F238E27FC236}">
                <a16:creationId xmlns:a16="http://schemas.microsoft.com/office/drawing/2014/main" id="{9788292E-3296-4DC7-84FE-C3F95F7FE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6" y="3241676"/>
            <a:ext cx="81629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Introduce some </a:t>
            </a:r>
            <a:r>
              <a:rPr lang="en-GB" altLang="en-US" sz="2000">
                <a:solidFill>
                  <a:srgbClr val="CC3300"/>
                </a:solidFill>
                <a:latin typeface="Comic Sans MS" panose="030F0702030302020204" pitchFamily="66" charset="0"/>
              </a:rPr>
              <a:t>asymmetry</a:t>
            </a:r>
            <a:r>
              <a:rPr lang="en-GB" altLang="en-US" sz="2000">
                <a:latin typeface="Comic Sans MS" panose="030F0702030302020204" pitchFamily="66" charset="0"/>
              </a:rPr>
              <a:t> in the problem (cf. Dining philosophers).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This takes the form of a boolean variable (</a:t>
            </a:r>
            <a:r>
              <a:rPr lang="en-GB" altLang="en-US" sz="2000" b="1">
                <a:solidFill>
                  <a:srgbClr val="CC00CC"/>
                </a:solidFill>
                <a:latin typeface="Courier New" panose="02070309020205020404" pitchFamily="49" charset="0"/>
              </a:rPr>
              <a:t>bt</a:t>
            </a:r>
            <a:r>
              <a:rPr lang="en-GB" altLang="en-US" sz="2000">
                <a:latin typeface="Comic Sans MS" panose="030F0702030302020204" pitchFamily="66" charset="0"/>
              </a:rPr>
              <a:t>) which breaks the deadlock by indicating whether it is the turn of </a:t>
            </a:r>
            <a:r>
              <a:rPr lang="en-GB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sz="2000">
                <a:latin typeface="Comic Sans MS" panose="030F0702030302020204" pitchFamily="66" charset="0"/>
              </a:rPr>
              <a:t> cars or </a:t>
            </a:r>
            <a:r>
              <a:rPr lang="en-GB" altLang="en-US" sz="2000">
                <a:solidFill>
                  <a:srgbClr val="CC3300"/>
                </a:solidFill>
                <a:latin typeface="Comic Sans MS" panose="030F0702030302020204" pitchFamily="66" charset="0"/>
              </a:rPr>
              <a:t>red</a:t>
            </a:r>
            <a:r>
              <a:rPr lang="en-GB" altLang="en-US" sz="2000">
                <a:latin typeface="Comic Sans MS" panose="030F0702030302020204" pitchFamily="66" charset="0"/>
              </a:rPr>
              <a:t> cars to enter the bridge.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Arbitrarily set </a:t>
            </a:r>
            <a:r>
              <a:rPr lang="en-GB" altLang="en-US" sz="2000" b="1">
                <a:solidFill>
                  <a:srgbClr val="CC00CC"/>
                </a:solidFill>
                <a:latin typeface="Courier New" panose="02070309020205020404" pitchFamily="49" charset="0"/>
              </a:rPr>
              <a:t>bt</a:t>
            </a:r>
            <a:r>
              <a:rPr lang="en-GB" altLang="en-US" sz="2000">
                <a:latin typeface="Comic Sans MS" panose="030F0702030302020204" pitchFamily="66" charset="0"/>
              </a:rPr>
              <a:t> to true initially giving </a:t>
            </a:r>
            <a:r>
              <a:rPr lang="en-GB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blue</a:t>
            </a:r>
            <a:r>
              <a:rPr lang="en-GB" altLang="en-US" sz="2000">
                <a:latin typeface="Comic Sans MS" panose="030F0702030302020204" pitchFamily="66" charset="0"/>
              </a:rPr>
              <a:t> initial precedence.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2538B7F3-7142-431B-8EE5-566962C70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81923" name="Picture 2">
            <a:extLst>
              <a:ext uri="{FF2B5EF4-FFF2-40B4-BE49-F238E27FC236}">
                <a16:creationId xmlns:a16="http://schemas.microsoft.com/office/drawing/2014/main" id="{28069B53-3E68-4908-832D-31E0CBA7F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r="12807"/>
          <a:stretch>
            <a:fillRect/>
          </a:stretch>
        </p:blipFill>
        <p:spPr bwMode="auto">
          <a:xfrm>
            <a:off x="1524000" y="-234950"/>
            <a:ext cx="9410700" cy="709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191169B4-99AD-41B9-9D2D-F6CA64673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82947" name="Picture 2">
            <a:extLst>
              <a:ext uri="{FF2B5EF4-FFF2-40B4-BE49-F238E27FC236}">
                <a16:creationId xmlns:a16="http://schemas.microsoft.com/office/drawing/2014/main" id="{503944B7-0D68-42D6-A705-21D58903C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8" r="12807"/>
          <a:stretch>
            <a:fillRect/>
          </a:stretch>
        </p:blipFill>
        <p:spPr bwMode="auto">
          <a:xfrm>
            <a:off x="1524000" y="-15875"/>
            <a:ext cx="9410700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8">
            <a:extLst>
              <a:ext uri="{FF2B5EF4-FFF2-40B4-BE49-F238E27FC236}">
                <a16:creationId xmlns:a16="http://schemas.microsoft.com/office/drawing/2014/main" id="{AE0B719E-3AE0-4B61-9698-A5FB01AFE9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D9AC10E6-27CE-4DBD-A148-AF17D5BF6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14" y="236539"/>
            <a:ext cx="2924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3366"/>
                </a:solidFill>
              </a:rPr>
              <a:t>References</a:t>
            </a:r>
            <a:endParaRPr lang="en-US" altLang="en-US" sz="4000">
              <a:solidFill>
                <a:srgbClr val="003366"/>
              </a:solidFill>
            </a:endParaRP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47A8FFC2-24E1-4536-9CF7-BFCB5CCB1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262189"/>
            <a:ext cx="8166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   Jeff M &amp; Jeff K, Concurrency – State Models &amp; Java Programming</a:t>
            </a:r>
            <a:r>
              <a:rPr lang="en-US" altLang="en-US" sz="3600"/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8">
            <a:extLst>
              <a:ext uri="{FF2B5EF4-FFF2-40B4-BE49-F238E27FC236}">
                <a16:creationId xmlns:a16="http://schemas.microsoft.com/office/drawing/2014/main" id="{B18271C3-9DBA-4FD0-B434-C170EA8F99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/>
              <a:t>‹#›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90115" name="Text Box 2">
            <a:extLst>
              <a:ext uri="{FF2B5EF4-FFF2-40B4-BE49-F238E27FC236}">
                <a16:creationId xmlns:a16="http://schemas.microsoft.com/office/drawing/2014/main" id="{37497288-ACF0-45CF-86CE-0E878AC85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1" y="28829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0389-D573-4214-A521-5CCEAA8E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274638"/>
            <a:ext cx="7042150" cy="1143000"/>
          </a:xfrm>
        </p:spPr>
        <p:txBody>
          <a:bodyPr wrap="square" anchor="ctr">
            <a:normAutofit/>
          </a:bodyPr>
          <a:lstStyle/>
          <a:p>
            <a:r>
              <a:rPr lang="en-US" b="1" i="0">
                <a:effectLst/>
              </a:rPr>
              <a:t>BlockingQueue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C00EA1-B764-4095-A619-224F662957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011363" y="1697038"/>
            <a:ext cx="4038600" cy="452596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BlockingQueue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is typically used to have one thread produce objects, which another thread consumes. 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blockingqueue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has 6 spaces.</a:t>
            </a:r>
          </a:p>
        </p:txBody>
      </p:sp>
      <p:pic>
        <p:nvPicPr>
          <p:cNvPr id="1026" name="Picture 2" descr="A BlockingQueue with one thread putting into it, and another thread taking from it.">
            <a:extLst>
              <a:ext uri="{FF2B5EF4-FFF2-40B4-BE49-F238E27FC236}">
                <a16:creationId xmlns:a16="http://schemas.microsoft.com/office/drawing/2014/main" id="{0BA15588-D334-4222-BDFE-13A29D504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2363" y="3189094"/>
            <a:ext cx="4038600" cy="154185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07140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3">
            <a:extLst>
              <a:ext uri="{FF2B5EF4-FFF2-40B4-BE49-F238E27FC236}">
                <a16:creationId xmlns:a16="http://schemas.microsoft.com/office/drawing/2014/main" id="{9F17B736-5A3C-4D16-A9A9-F8DFADC1F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2FB27D67-8738-4411-8486-303A23729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Parallel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</TotalTime>
  <Pages>11</Pages>
  <Words>2388</Words>
  <Application>Microsoft Office PowerPoint</Application>
  <PresentationFormat>Widescreen</PresentationFormat>
  <Paragraphs>329</Paragraphs>
  <Slides>53</Slides>
  <Notes>27</Notes>
  <HiddenSlides>3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Century Gothic</vt:lpstr>
      <vt:lpstr>Comic Sans MS</vt:lpstr>
      <vt:lpstr>Courier New</vt:lpstr>
      <vt:lpstr>Montserrat</vt:lpstr>
      <vt:lpstr>PT Sans</vt:lpstr>
      <vt:lpstr>Symbol</vt:lpstr>
      <vt:lpstr>Times New Roman</vt:lpstr>
      <vt:lpstr>UCTI-Template-foundation-level</vt:lpstr>
      <vt:lpstr>Drawing</vt:lpstr>
      <vt:lpstr>Document</vt:lpstr>
      <vt:lpstr>Safety and Liveness Properties</vt:lpstr>
      <vt:lpstr>CCP Assignment</vt:lpstr>
      <vt:lpstr>CCP Assignment</vt:lpstr>
      <vt:lpstr>Additional Requirements</vt:lpstr>
      <vt:lpstr>PowerPoint Presentation</vt:lpstr>
      <vt:lpstr>Additional Requirements</vt:lpstr>
      <vt:lpstr>PowerPoint Presentation</vt:lpstr>
      <vt:lpstr>Topic &amp; Structure of The Lesson</vt:lpstr>
      <vt:lpstr>PowerPoint Presentation</vt:lpstr>
      <vt:lpstr>Key Terms You Must Be Able To Use</vt:lpstr>
      <vt:lpstr>Safety &amp; Liveness properties</vt:lpstr>
      <vt:lpstr>PowerPoint Presentation</vt:lpstr>
      <vt:lpstr>The Dining Philosophers.</vt:lpstr>
      <vt:lpstr>PowerPoint Presentation</vt:lpstr>
      <vt:lpstr>Single Lane Bridge problem</vt:lpstr>
      <vt:lpstr>Single Lane Bridge problem</vt:lpstr>
      <vt:lpstr>Single Lane Bridge - model</vt:lpstr>
      <vt:lpstr>Single Lane Bridge - BRIDGE model</vt:lpstr>
      <vt:lpstr>Single Lane Bridge - safety property ONEWAY</vt:lpstr>
      <vt:lpstr>Single Lane Bridge - implementation in Java</vt:lpstr>
      <vt:lpstr>Single Lane Bridge - BridgeCanvas</vt:lpstr>
      <vt:lpstr>Single Lane Bridge - RedCar</vt:lpstr>
      <vt:lpstr>Single Lane Bridge - class Bridge</vt:lpstr>
      <vt:lpstr>Single Lane Bridge</vt:lpstr>
      <vt:lpstr>PowerPoint Presentation</vt:lpstr>
      <vt:lpstr>PowerPoint Presentation</vt:lpstr>
      <vt:lpstr>PowerPoint Presentation</vt:lpstr>
      <vt:lpstr>Synchronized</vt:lpstr>
      <vt:lpstr> AtomicCounter:</vt:lpstr>
      <vt:lpstr>java.util.concurrent </vt:lpstr>
      <vt:lpstr>PowerPoint Presentation</vt:lpstr>
      <vt:lpstr>PowerPoint Presentation</vt:lpstr>
      <vt:lpstr>What we will cover next</vt:lpstr>
      <vt:lpstr>Safety and Liveness Properties</vt:lpstr>
      <vt:lpstr>Topic &amp; Structure of The Lesson</vt:lpstr>
      <vt:lpstr>PowerPoint Presentation</vt:lpstr>
      <vt:lpstr>Key Terms You Must Be Able To Use</vt:lpstr>
      <vt:lpstr>Synchronized</vt:lpstr>
      <vt:lpstr> AtomicCounter:</vt:lpstr>
      <vt:lpstr>java.util.concurrent </vt:lpstr>
      <vt:lpstr>Safety &amp; Liveness properties</vt:lpstr>
      <vt:lpstr>Liveness</vt:lpstr>
      <vt:lpstr>PowerPoint Presentation</vt:lpstr>
      <vt:lpstr>Progress properties - fair choice</vt:lpstr>
      <vt:lpstr>Progress - single lane bridge</vt:lpstr>
      <vt:lpstr>Congested single lane bridge</vt:lpstr>
      <vt:lpstr>Progress - analysis of revised single lane bridge model</vt:lpstr>
      <vt:lpstr>PowerPoint Presentation</vt:lpstr>
      <vt:lpstr>PowerPoint Presentation</vt:lpstr>
      <vt:lpstr>PowerPoint Presentation</vt:lpstr>
      <vt:lpstr>PowerPoint Presentation</vt:lpstr>
      <vt:lpstr>BlockingQueue</vt:lpstr>
      <vt:lpstr>What we will cover next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Zailan Arabee Abdul Salam</cp:lastModifiedBy>
  <cp:revision>330</cp:revision>
  <cp:lastPrinted>2023-02-03T03:07:34Z</cp:lastPrinted>
  <dcterms:created xsi:type="dcterms:W3CDTF">2005-08-02T10:18:20Z</dcterms:created>
  <dcterms:modified xsi:type="dcterms:W3CDTF">2023-11-06T05:00:56Z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